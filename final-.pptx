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64" r:id="rId3"/>
    <p:sldId id="272" r:id="rId4"/>
    <p:sldId id="273" r:id="rId5"/>
    <p:sldId id="274" r:id="rId6"/>
    <p:sldId id="275" r:id="rId7"/>
    <p:sldId id="276" r:id="rId8"/>
    <p:sldId id="277" r:id="rId9"/>
    <p:sldId id="278" r:id="rId10"/>
    <p:sldId id="279" r:id="rId11"/>
    <p:sldId id="281" r:id="rId12"/>
    <p:sldId id="282" r:id="rId13"/>
    <p:sldId id="283" r:id="rId14"/>
    <p:sldId id="284" r:id="rId15"/>
    <p:sldId id="280" r:id="rId16"/>
  </p:sldIdLst>
  <p:sldSz cx="9144000" cy="5143500" type="screen16x9"/>
  <p:notesSz cx="6858000" cy="9144000"/>
  <p:embeddedFontLst>
    <p:embeddedFont>
      <p:font typeface="Roboto" panose="02000000000000000000" pitchFamily="2" charset="0"/>
      <p:regular r:id="rId18"/>
      <p:bold r:id="rId19"/>
      <p:italic r:id="rId20"/>
      <p:boldItalic r:id="rId21"/>
    </p:embeddedFont>
    <p:embeddedFont>
      <p:font typeface="Roboto Slab" pitchFamily="2"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68A"/>
    <a:srgbClr val="FDBA74"/>
    <a:srgbClr val="A78BFA"/>
    <a:srgbClr val="86EFAC"/>
    <a:srgbClr val="7DD3FC"/>
    <a:srgbClr val="D1D5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9"/>
    <p:restoredTop sz="80000"/>
  </p:normalViewPr>
  <p:slideViewPr>
    <p:cSldViewPr snapToGrid="0">
      <p:cViewPr varScale="1">
        <p:scale>
          <a:sx n="166" d="100"/>
          <a:sy n="166" d="100"/>
        </p:scale>
        <p:origin x="1048"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c6f75fce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c6f75fc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c6f75fceb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The core problem we wanted to tackle is that standard apps like Google Maps use incredibly rigid </a:t>
            </a:r>
            <a:r>
              <a:rPr lang="en-GB" sz="1100" b="0" i="0" u="none" strike="noStrike" cap="none" dirty="0" err="1">
                <a:solidFill>
                  <a:srgbClr val="000000"/>
                </a:solidFill>
                <a:effectLst/>
                <a:latin typeface="Arial"/>
                <a:ea typeface="Arial"/>
                <a:cs typeface="Arial"/>
                <a:sym typeface="Arial"/>
              </a:rPr>
              <a:t>boolean</a:t>
            </a:r>
            <a:r>
              <a:rPr lang="en-GB" sz="1100" b="0" i="0" u="none" strike="noStrike" cap="none" dirty="0">
                <a:solidFill>
                  <a:srgbClr val="000000"/>
                </a:solidFill>
                <a:effectLst/>
                <a:latin typeface="Arial"/>
                <a:ea typeface="Arial"/>
                <a:cs typeface="Arial"/>
                <a:sym typeface="Arial"/>
              </a:rPr>
              <a:t> filters. If you filter for a hotel under $100, and a great place is $101, it’s completely eliminated from your search. Plus, standard apps really struggle to weigh multiple human needs at once. We wanted to build something that mimics human trade-offs rather than just doing a hard binary sort.</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0D99265-3550-2D68-52B9-87D7D18A14CB}"/>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1C2A2F08-BC5A-CDBE-F3F1-A9BF6AC662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2EB0E8DD-2EFD-D262-F5FE-205438FC1B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that’s exactly why we chose to build a Fuzzy Logic engine. Instead of saying something either 'is' or 'isn't' affordable, we evaluate places using degrees of truth across five different categories at the same time. The goal here was to output one clear, aggregated percentage score so the user doesn’t have to do the mental gymnastics themselves.</a:t>
            </a:r>
            <a:endParaRPr dirty="0"/>
          </a:p>
        </p:txBody>
      </p:sp>
    </p:spTree>
    <p:extLst>
      <p:ext uri="{BB962C8B-B14F-4D97-AF65-F5344CB8AC3E}">
        <p14:creationId xmlns:p14="http://schemas.microsoft.com/office/powerpoint/2010/main" val="32467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48D8307-1EC1-6BF0-79BC-CF163600DD1E}"/>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B909BAE5-1B34-D9DA-35EF-8BD660F636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21355B09-3362-512B-D2AB-A32D90774F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you'll see how we pulled the baseline data to feed the engine. We used OpenStreetMap for the raw geographic data like coordinates and place types, and then we simulated Google Maps metrics for subjective things like ratings and popularity.</a:t>
            </a:r>
            <a:endParaRPr dirty="0"/>
          </a:p>
        </p:txBody>
      </p:sp>
    </p:spTree>
    <p:extLst>
      <p:ext uri="{BB962C8B-B14F-4D97-AF65-F5344CB8AC3E}">
        <p14:creationId xmlns:p14="http://schemas.microsoft.com/office/powerpoint/2010/main" val="103581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6996393F-A3BE-EDB2-62D0-949B43A79506}"/>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C7C4B5B3-A3A6-6F76-A71C-9663DB50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CC36E519-54A0-7172-BA07-875CCFC88A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err="1">
                <a:solidFill>
                  <a:srgbClr val="000000"/>
                </a:solidFill>
                <a:effectLst/>
                <a:latin typeface="Arial"/>
                <a:ea typeface="Arial"/>
                <a:cs typeface="Arial"/>
                <a:sym typeface="Arial"/>
              </a:rPr>
              <a:t>Thi</a:t>
            </a:r>
            <a:r>
              <a:rPr lang="en-GB" sz="1100" b="0" i="0" u="none" strike="noStrike" cap="none" dirty="0">
                <a:solidFill>
                  <a:srgbClr val="000000"/>
                </a:solidFill>
                <a:effectLst/>
                <a:latin typeface="Arial"/>
                <a:ea typeface="Arial"/>
                <a:cs typeface="Arial"/>
                <a:sym typeface="Arial"/>
              </a:rPr>
              <a:t> is super important because of the math. We couldn't exactly throw '</a:t>
            </a:r>
            <a:r>
              <a:rPr lang="en-GB" sz="1100" b="0" i="0" u="none" strike="noStrike" cap="none" dirty="0" err="1">
                <a:solidFill>
                  <a:srgbClr val="000000"/>
                </a:solidFill>
                <a:effectLst/>
                <a:latin typeface="Arial"/>
                <a:ea typeface="Arial"/>
                <a:cs typeface="Arial"/>
                <a:sym typeface="Arial"/>
              </a:rPr>
              <a:t>kilometers</a:t>
            </a:r>
            <a:r>
              <a:rPr lang="en-GB" sz="1100" b="0" i="0" u="none" strike="noStrike" cap="none" dirty="0">
                <a:solidFill>
                  <a:srgbClr val="000000"/>
                </a:solidFill>
                <a:effectLst/>
                <a:latin typeface="Arial"/>
                <a:ea typeface="Arial"/>
                <a:cs typeface="Arial"/>
                <a:sym typeface="Arial"/>
              </a:rPr>
              <a:t>', 'currency', and '5-star ratings' into the same calculation. So the first step in our pipeline was strict normalization. We forcefully translated every single metric onto a universal 0-to-10 scale. Once everything was standardized, the engine could finally compare apples to apples</a:t>
            </a:r>
            <a:endParaRPr dirty="0"/>
          </a:p>
        </p:txBody>
      </p:sp>
    </p:spTree>
    <p:extLst>
      <p:ext uri="{BB962C8B-B14F-4D97-AF65-F5344CB8AC3E}">
        <p14:creationId xmlns:p14="http://schemas.microsoft.com/office/powerpoint/2010/main" val="792539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B4F89047-E82B-60BE-83C9-F98A09E50881}"/>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916BBA67-4FA0-3D61-F424-93ADEECDA6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497B9476-5E04-AAA0-6EE3-A45571CEA2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this is where the real fuzzy math begins. We decided to use strictly Triangular Membership Functions. So, if a restaurant’s taste metric mapped to a 6, our system doesn't just treat it as a hard 'Medium'. Because of how the triangles overlap, the math registers it as '60% Medium, but also 40% High'. This was a deliberate choice to ensure smooth transitions and avoid any rigid threshold cliffs.</a:t>
            </a:r>
            <a:endParaRPr dirty="0"/>
          </a:p>
        </p:txBody>
      </p:sp>
    </p:spTree>
    <p:extLst>
      <p:ext uri="{BB962C8B-B14F-4D97-AF65-F5344CB8AC3E}">
        <p14:creationId xmlns:p14="http://schemas.microsoft.com/office/powerpoint/2010/main" val="1987080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F5813F4-59B5-6765-7A93-940105C9AA76}"/>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ACD84E1E-7864-3508-46EC-30325F536C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488E5CF6-D056-1EB1-EAB2-B7C0541DD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This the brain of the engine. We manually programmed a rule base of about 50 IF-THEN statements. For example, </a:t>
            </a:r>
            <a:r>
              <a:rPr lang="en-GB" sz="1100" b="0" i="1" u="none" strike="noStrike" cap="none" dirty="0">
                <a:solidFill>
                  <a:srgbClr val="000000"/>
                </a:solidFill>
                <a:effectLst/>
                <a:latin typeface="Arial"/>
                <a:ea typeface="Arial"/>
                <a:cs typeface="Arial"/>
                <a:sym typeface="Arial"/>
              </a:rPr>
              <a:t>'IF Taste is High AND Quality is High, then the score is 95.'</a:t>
            </a:r>
            <a:r>
              <a:rPr lang="en-GB" sz="1100" b="0" i="0" u="none" strike="noStrike" cap="none" dirty="0">
                <a:solidFill>
                  <a:srgbClr val="000000"/>
                </a:solidFill>
                <a:effectLst/>
                <a:latin typeface="Arial"/>
                <a:ea typeface="Arial"/>
                <a:cs typeface="Arial"/>
                <a:sym typeface="Arial"/>
              </a:rPr>
              <a:t> For the logical 'AND' condition, we explicitly used the MIN operator. We built it this way so that if a place has 90% High Taste but only 20% High Quality, it bottlenecks the rule strength to 20%. It prevents a place from gaming the system if it fails a crucial parameter</a:t>
            </a:r>
            <a:endParaRPr dirty="0"/>
          </a:p>
        </p:txBody>
      </p:sp>
    </p:spTree>
    <p:extLst>
      <p:ext uri="{BB962C8B-B14F-4D97-AF65-F5344CB8AC3E}">
        <p14:creationId xmlns:p14="http://schemas.microsoft.com/office/powerpoint/2010/main" val="3422271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EAA78168-023A-8699-C97F-B94924D10679}"/>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6A5932D7-2AAB-A146-4120-0C7BECD896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7FB5E1E0-22CE-E0AD-DC76-C19F697521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Since we have around 50 rules, a handful of them will fire simultaneously. Slide 8 shows our Defuzzification strategy. We went with the Weighted Average Method—essentially a </a:t>
            </a:r>
            <a:r>
              <a:rPr lang="en-GB" dirty="0" err="1"/>
              <a:t>Center</a:t>
            </a:r>
            <a:r>
              <a:rPr lang="en-GB" dirty="0"/>
              <a:t> of Gravity check. We multiply the output of every triggered rule by its individual mathematical strength, and then average them out. This safely compresses all the overlapping logic back down into one real number.</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927854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CA31C74-324E-1D55-BA8B-06E2D0A507C3}"/>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7544AEB3-9E59-530C-3D4C-1CC0957B49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DC274997-7ED9-CB3A-AFDE-CA7651D078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100" b="0" i="0" u="none" strike="noStrike" cap="none" dirty="0">
                <a:solidFill>
                  <a:srgbClr val="000000"/>
                </a:solidFill>
                <a:effectLst/>
                <a:latin typeface="Arial"/>
                <a:ea typeface="Arial"/>
                <a:cs typeface="Arial"/>
                <a:sym typeface="Arial"/>
              </a:rPr>
              <a:t>Slide 9 just brings it back to the user experience. All that heavy fuzzy math collapses down into a single 'Sustainability Score' out of 100, alongside a simple linguistic label like 'Very Good'. We wanted to make sure the interface felt totally human-readable.</a:t>
            </a:r>
            <a:endParaRPr dirty="0"/>
          </a:p>
        </p:txBody>
      </p:sp>
    </p:spTree>
    <p:extLst>
      <p:ext uri="{BB962C8B-B14F-4D97-AF65-F5344CB8AC3E}">
        <p14:creationId xmlns:p14="http://schemas.microsoft.com/office/powerpoint/2010/main" val="164087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AA8AA64-8A6F-CAFE-22C1-7DF6174D2505}"/>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26F5198D-575D-359B-88DA-E851869BF4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FC0D03B3-4F70-7137-62E2-E488654F9C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And finally on Slide 10, just a quick note on the architecture. We built this entirely in Vanilla JavaScript to run natively in the browser's DOM. We didn't want to rely on backend server calls to process the math, so the system instantly crunches thousands of rules client-side</a:t>
            </a:r>
            <a:endParaRPr dirty="0"/>
          </a:p>
        </p:txBody>
      </p:sp>
    </p:spTree>
    <p:extLst>
      <p:ext uri="{BB962C8B-B14F-4D97-AF65-F5344CB8AC3E}">
        <p14:creationId xmlns:p14="http://schemas.microsoft.com/office/powerpoint/2010/main" val="2627619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B043B32-F710-A6DA-28E1-597EF8D2279A}"/>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678EE4B1-8C59-43F4-C199-6C2625AD51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6B5726D5-AEF1-4805-0EA0-39C9012F2B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And finally on Slide 10, just a quick note on the architecture. We built this entirely in Vanilla JavaScript to run natively in the browser's DOM. We didn't want to rely on backend server calls to process the math, so the system instantly crunches thousands of rules client-side</a:t>
            </a:r>
            <a:endParaRPr dirty="0"/>
          </a:p>
        </p:txBody>
      </p:sp>
    </p:spTree>
    <p:extLst>
      <p:ext uri="{BB962C8B-B14F-4D97-AF65-F5344CB8AC3E}">
        <p14:creationId xmlns:p14="http://schemas.microsoft.com/office/powerpoint/2010/main" val="3695189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E23116-C7FD-E4F5-2DFA-00C98BFB4841}"/>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001D2F47-4AA2-24B4-EDDE-4EF4A2655B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652A2228-5EC4-9921-ACFB-551BCC9536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And finally on Slide 10, just a quick note on the architecture. We built this entirely in Vanilla JavaScript to run natively in the browser's DOM. We didn't want to rely on backend server calls to process the math, so the system instantly crunches thousands of rules client-side</a:t>
            </a:r>
            <a:endParaRPr dirty="0"/>
          </a:p>
        </p:txBody>
      </p:sp>
    </p:spTree>
    <p:extLst>
      <p:ext uri="{BB962C8B-B14F-4D97-AF65-F5344CB8AC3E}">
        <p14:creationId xmlns:p14="http://schemas.microsoft.com/office/powerpoint/2010/main" val="92090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667E997-AD5B-2C2A-930D-E0F4ED99B8EA}"/>
            </a:ext>
          </a:extLst>
        </p:cNvPr>
        <p:cNvGrpSpPr/>
        <p:nvPr/>
      </p:nvGrpSpPr>
      <p:grpSpPr>
        <a:xfrm>
          <a:off x="0" y="0"/>
          <a:ext cx="0" cy="0"/>
          <a:chOff x="0" y="0"/>
          <a:chExt cx="0" cy="0"/>
        </a:xfrm>
      </p:grpSpPr>
      <p:sp>
        <p:nvSpPr>
          <p:cNvPr id="112" name="Google Shape;112;gc6f75fceb_0_65:notes">
            <a:extLst>
              <a:ext uri="{FF2B5EF4-FFF2-40B4-BE49-F238E27FC236}">
                <a16:creationId xmlns:a16="http://schemas.microsoft.com/office/drawing/2014/main" id="{B5BDA35B-3A87-0CEA-1E0F-A1D3E730B0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75fceb_0_65:notes">
            <a:extLst>
              <a:ext uri="{FF2B5EF4-FFF2-40B4-BE49-F238E27FC236}">
                <a16:creationId xmlns:a16="http://schemas.microsoft.com/office/drawing/2014/main" id="{C7C7BB41-A03D-7F9F-8638-27D7C6FFB6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404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CH"/>
          </a:p>
        </p:txBody>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CH"/>
          </a:p>
        </p:txBody>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367519"/>
            <a:ext cx="6206398" cy="1457400"/>
          </a:xfrm>
          <a:prstGeom prst="rect">
            <a:avLst/>
          </a:prstGeom>
        </p:spPr>
        <p:txBody>
          <a:bodyPr spcFirstLastPara="1" wrap="square" lIns="91425" tIns="91425" rIns="91425" bIns="91425" anchor="b" anchorCtr="0">
            <a:noAutofit/>
          </a:bodyPr>
          <a:lstStyle/>
          <a:p>
            <a:pPr lvl="0"/>
            <a:r>
              <a:rPr lang="en-IN" dirty="0">
                <a:latin typeface="Times New Roman" panose="02020603050405020304" pitchFamily="18" charset="0"/>
                <a:cs typeface="Times New Roman" panose="02020603050405020304" pitchFamily="18" charset="0"/>
              </a:rPr>
              <a:t>Fuzzy Logic Based Travel Recommendation System</a:t>
            </a:r>
            <a:endParaRPr dirty="0">
              <a:latin typeface="Times New Roman" panose="02020603050405020304" pitchFamily="18" charset="0"/>
              <a:cs typeface="Times New Roman" panose="02020603050405020304" pitchFamily="18" charset="0"/>
            </a:endParaRPr>
          </a:p>
        </p:txBody>
      </p:sp>
      <p:sp>
        <p:nvSpPr>
          <p:cNvPr id="64" name="Google Shape;64;p13"/>
          <p:cNvSpPr txBox="1">
            <a:spLocks noGrp="1"/>
          </p:cNvSpPr>
          <p:nvPr>
            <p:ph type="subTitle" idx="1"/>
          </p:nvPr>
        </p:nvSpPr>
        <p:spPr>
          <a:xfrm>
            <a:off x="1680302" y="3359675"/>
            <a:ext cx="5305800" cy="118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dirty="0">
                <a:solidFill>
                  <a:srgbClr val="FFF2CC"/>
                </a:solidFill>
                <a:latin typeface="Times New Roman" panose="02020603050405020304" pitchFamily="18" charset="0"/>
                <a:cs typeface="Times New Roman" panose="02020603050405020304" pitchFamily="18" charset="0"/>
              </a:rPr>
              <a:t>Presented By,</a:t>
            </a:r>
          </a:p>
          <a:p>
            <a:pPr marL="0" lvl="0" indent="0" algn="ctr" rtl="0">
              <a:spcBef>
                <a:spcPts val="0"/>
              </a:spcBef>
              <a:spcAft>
                <a:spcPts val="0"/>
              </a:spcAft>
              <a:buNone/>
            </a:pPr>
            <a:endParaRPr lang="en" sz="1100" dirty="0">
              <a:solidFill>
                <a:srgbClr val="FFF2CC"/>
              </a:solidFill>
              <a:latin typeface="Times New Roman" panose="02020603050405020304" pitchFamily="18" charset="0"/>
              <a:cs typeface="Times New Roman" panose="02020603050405020304" pitchFamily="18" charset="0"/>
            </a:endParaRPr>
          </a:p>
          <a:p>
            <a:pPr marL="0" lvl="0" indent="0" algn="ctr" rtl="0">
              <a:spcBef>
                <a:spcPts val="0"/>
              </a:spcBef>
              <a:spcAft>
                <a:spcPts val="0"/>
              </a:spcAft>
              <a:buNone/>
            </a:pPr>
            <a:r>
              <a:rPr lang="en" sz="1100" dirty="0">
                <a:solidFill>
                  <a:srgbClr val="FFF2CC"/>
                </a:solidFill>
                <a:latin typeface="Times New Roman" panose="02020603050405020304" pitchFamily="18" charset="0"/>
                <a:cs typeface="Times New Roman" panose="02020603050405020304" pitchFamily="18" charset="0"/>
              </a:rPr>
              <a:t>VAMSHI KRISHNA NEELAM </a:t>
            </a:r>
            <a:endParaRPr sz="1100" dirty="0">
              <a:solidFill>
                <a:srgbClr val="FFF2CC"/>
              </a:solidFill>
              <a:latin typeface="Times New Roman" panose="02020603050405020304" pitchFamily="18" charset="0"/>
              <a:cs typeface="Times New Roman" panose="02020603050405020304" pitchFamily="18" charset="0"/>
            </a:endParaRPr>
          </a:p>
          <a:p>
            <a:pPr marL="0" lvl="0" indent="0" algn="ctr" rtl="0">
              <a:spcBef>
                <a:spcPts val="0"/>
              </a:spcBef>
              <a:spcAft>
                <a:spcPts val="0"/>
              </a:spcAft>
              <a:buNone/>
            </a:pPr>
            <a:r>
              <a:rPr lang="en-IN" sz="1100" dirty="0">
                <a:solidFill>
                  <a:srgbClr val="FFF2CC"/>
                </a:solidFill>
                <a:latin typeface="Times New Roman" panose="02020603050405020304" pitchFamily="18" charset="0"/>
                <a:cs typeface="Times New Roman" panose="02020603050405020304" pitchFamily="18" charset="0"/>
              </a:rPr>
              <a:t>SAI SHARAN KARANAM</a:t>
            </a:r>
            <a:endParaRPr sz="1100" dirty="0">
              <a:solidFill>
                <a:srgbClr val="FFF2CC"/>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7" name="TextBox 6">
            <a:extLst>
              <a:ext uri="{FF2B5EF4-FFF2-40B4-BE49-F238E27FC236}">
                <a16:creationId xmlns:a16="http://schemas.microsoft.com/office/drawing/2014/main" id="{40C5BDC4-324C-B4C3-9F4C-B39B236128E0}"/>
              </a:ext>
            </a:extLst>
          </p:cNvPr>
          <p:cNvSpPr txBox="1"/>
          <p:nvPr/>
        </p:nvSpPr>
        <p:spPr>
          <a:xfrm>
            <a:off x="365760" y="220980"/>
            <a:ext cx="8595360" cy="4447371"/>
          </a:xfrm>
          <a:prstGeom prst="rect">
            <a:avLst/>
          </a:prstGeom>
          <a:noFill/>
        </p:spPr>
        <p:txBody>
          <a:bodyPr wrap="square">
            <a:spAutoFit/>
          </a:bodyPr>
          <a:lstStyle/>
          <a:p>
            <a:r>
              <a:rPr lang="en-IN" sz="3200" b="1" dirty="0">
                <a:solidFill>
                  <a:srgbClr val="00B0F0"/>
                </a:solidFill>
                <a:latin typeface="Times New Roman" panose="02020603050405020304" pitchFamily="18" charset="0"/>
                <a:cs typeface="Times New Roman" panose="02020603050405020304" pitchFamily="18" charset="0"/>
              </a:rPr>
              <a:t>Problem Statement</a:t>
            </a:r>
            <a:br>
              <a:rPr lang="en-IN" sz="1400" dirty="0">
                <a:solidFill>
                  <a:schemeClr val="tx1"/>
                </a:solidFill>
                <a:latin typeface="Times New Roman" panose="02020603050405020304" pitchFamily="18" charset="0"/>
                <a:cs typeface="Times New Roman" panose="02020603050405020304" pitchFamily="18" charset="0"/>
              </a:rPr>
            </a:br>
            <a:br>
              <a:rPr lang="en-IN" sz="13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Travelers often struggle to find reliable and relevant places when visiting a new city. Most existing platforms rely heavily on ratings and reviews, which can be biased or easily manipulated. Additionally, information is scattered across multiple applications such as maps, food delivery apps, and pharmacy services, making the search process inefficient. More importantly, current systems do not evaluate multiple real-life factors - such as distance, cost, quality, and comfort together to provide a single, meaningful score. As a result, there is no unified platform that offers an aggregated or sustainability-based recommendation to support better decision-making.</a:t>
            </a:r>
          </a:p>
          <a:p>
            <a:endParaRPr lang="en-US" sz="1200" dirty="0">
              <a:solidFill>
                <a:schemeClr val="tx1"/>
              </a:solidFill>
              <a:latin typeface="Times New Roman" panose="02020603050405020304" pitchFamily="18" charset="0"/>
              <a:cs typeface="Times New Roman" panose="02020603050405020304" pitchFamily="18" charset="0"/>
            </a:endParaRPr>
          </a:p>
          <a:p>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b="1" dirty="0">
                <a:solidFill>
                  <a:srgbClr val="FDE68A"/>
                </a:solidFill>
                <a:latin typeface="Times New Roman" panose="02020603050405020304" pitchFamily="18" charset="0"/>
                <a:cs typeface="Times New Roman" panose="02020603050405020304" pitchFamily="18" charset="0"/>
              </a:rPr>
              <a:t>Issues Include:</a:t>
            </a: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Ratings and reviews can be misleading or manipulated</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Users must switch between multiple apps to find basic services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Lack of a single unified platform for essential needs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No system provides an aggregated score based on multiple factors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Decision-making becomes time-consuming and less reliable</a:t>
            </a:r>
            <a:br>
              <a:rPr lang="en-US" sz="13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6F293245-1723-21DF-EF37-1C5710223C3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AB30A38-006D-F9BB-818A-8D68063344F8}"/>
              </a:ext>
            </a:extLst>
          </p:cNvPr>
          <p:cNvSpPr txBox="1"/>
          <p:nvPr/>
        </p:nvSpPr>
        <p:spPr>
          <a:xfrm>
            <a:off x="365760" y="220980"/>
            <a:ext cx="8595360" cy="4708981"/>
          </a:xfrm>
          <a:prstGeom prst="rect">
            <a:avLst/>
          </a:prstGeom>
          <a:noFill/>
        </p:spPr>
        <p:txBody>
          <a:bodyPr wrap="square">
            <a:spAutoFit/>
          </a:bodyPr>
          <a:lstStyle/>
          <a:p>
            <a:r>
              <a:rPr lang="en-US" sz="3200" b="1" dirty="0">
                <a:solidFill>
                  <a:srgbClr val="00B0F0"/>
                </a:solidFill>
                <a:latin typeface="Times New Roman" panose="02020603050405020304" pitchFamily="18" charset="0"/>
                <a:cs typeface="Times New Roman" panose="02020603050405020304" pitchFamily="18" charset="0"/>
              </a:rPr>
              <a:t>Proposed System using Fuzzy Systems</a:t>
            </a:r>
            <a:br>
              <a:rPr lang="en-US" dirty="0">
                <a:solidFill>
                  <a:schemeClr val="tx1"/>
                </a:solidFill>
                <a:latin typeface="Times New Roman" panose="02020603050405020304" pitchFamily="18" charset="0"/>
                <a:cs typeface="Times New Roman" panose="02020603050405020304" pitchFamily="18" charset="0"/>
              </a:rPr>
            </a:br>
            <a:br>
              <a:rPr lang="en-US"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The proposed system uses fuzzy logic to build a smart recommendation platform for travelers. It considers multiple real-life factors instead of relying only on ratings, helping users make better and more informed decisions. The system outputs both a score and an easy-to-understand result like Good or Very Good.</a:t>
            </a: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Develop a Smart Travel Recommendation System using Fuzzy Logic</a:t>
            </a:r>
          </a:p>
          <a:p>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rgbClr val="FDE68A"/>
                </a:solidFill>
                <a:latin typeface="Times New Roman" panose="02020603050405020304" pitchFamily="18" charset="0"/>
                <a:cs typeface="Times New Roman" panose="02020603050405020304" pitchFamily="18" charset="0"/>
              </a:rPr>
              <a:t>Provide all essential services in one platform:</a:t>
            </a: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Restaurants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Hotels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Pharmacies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Convenience Stores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Restrooms</a:t>
            </a: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Evaluate places using multiple parameters (distance, cost, quality, etc.)</a:t>
            </a:r>
          </a:p>
          <a:p>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rgbClr val="FDE68A"/>
                </a:solidFill>
                <a:latin typeface="Times New Roman" panose="02020603050405020304" pitchFamily="18" charset="0"/>
                <a:cs typeface="Times New Roman" panose="02020603050405020304" pitchFamily="18" charset="0"/>
              </a:rPr>
              <a:t>Generate:</a:t>
            </a: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Numerical Score (0–100)</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Human-friendly result (Good, Very Good, etc.)</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8555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1BDD13D9-AC05-9689-FCE8-8C88B6DBB85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EF8E3B2-EBA0-1AFA-CAE1-5E3261EEFB0C}"/>
              </a:ext>
            </a:extLst>
          </p:cNvPr>
          <p:cNvSpPr txBox="1"/>
          <p:nvPr/>
        </p:nvSpPr>
        <p:spPr>
          <a:xfrm>
            <a:off x="365760" y="220980"/>
            <a:ext cx="8595360" cy="2446824"/>
          </a:xfrm>
          <a:prstGeom prst="rect">
            <a:avLst/>
          </a:prstGeom>
          <a:noFill/>
        </p:spPr>
        <p:txBody>
          <a:bodyPr wrap="square">
            <a:spAutoFit/>
          </a:bodyPr>
          <a:lstStyle/>
          <a:p>
            <a:r>
              <a:rPr lang="en-US" sz="3200" b="1" dirty="0">
                <a:solidFill>
                  <a:srgbClr val="00B0F0"/>
                </a:solidFill>
                <a:latin typeface="Times New Roman" panose="02020603050405020304" pitchFamily="18" charset="0"/>
                <a:cs typeface="Times New Roman" panose="02020603050405020304" pitchFamily="18" charset="0"/>
              </a:rPr>
              <a:t>Data Collection &amp; Parameters</a:t>
            </a:r>
          </a:p>
          <a:p>
            <a:pPr>
              <a:spcAft>
                <a:spcPts val="1000"/>
              </a:spcAft>
            </a:pPr>
            <a:br>
              <a:rPr lang="en-US" sz="1600" dirty="0">
                <a:solidFill>
                  <a:srgbClr val="FCE5CD"/>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The dataset for this project is collected from multiple reliable sources to ensure comprehensive coverage of real-world locations. Geographic data such as location coordinates, place types, and basic details are obtained using OpenStreetMap (OSM). Additional information such as user ratings and reviews is incorporated from Google Maps to enhance decision-making. The collected data is then processed and structured to extract relevant parameters required for the fuzzy logic system.</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chemeClr val="tx1"/>
                </a:solidFill>
                <a:latin typeface="Times New Roman" panose="02020603050405020304" pitchFamily="18" charset="0"/>
                <a:cs typeface="Times New Roman" panose="02020603050405020304" pitchFamily="18" charset="0"/>
              </a:rPr>
              <a:t>OpenStreetMap (OSM API) :</a:t>
            </a:r>
            <a:r>
              <a:rPr lang="en-US" sz="1200" dirty="0">
                <a:solidFill>
                  <a:schemeClr val="tx1"/>
                </a:solidFill>
                <a:latin typeface="Times New Roman" panose="02020603050405020304" pitchFamily="18" charset="0"/>
                <a:cs typeface="Times New Roman" panose="02020603050405020304" pitchFamily="18" charset="0"/>
              </a:rPr>
              <a:t> location data (latitude, longitude, place type)</a:t>
            </a:r>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chemeClr val="tx1"/>
                </a:solidFill>
                <a:latin typeface="Times New Roman" panose="02020603050405020304" pitchFamily="18" charset="0"/>
                <a:cs typeface="Times New Roman" panose="02020603050405020304" pitchFamily="18" charset="0"/>
              </a:rPr>
              <a:t>Google Maps : </a:t>
            </a:r>
            <a:r>
              <a:rPr lang="en-US" sz="1200" dirty="0">
                <a:solidFill>
                  <a:schemeClr val="tx1"/>
                </a:solidFill>
                <a:latin typeface="Times New Roman" panose="02020603050405020304" pitchFamily="18" charset="0"/>
                <a:cs typeface="Times New Roman" panose="02020603050405020304" pitchFamily="18" charset="0"/>
              </a:rPr>
              <a:t>ratings, reviews, and popularity indicators</a:t>
            </a:r>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chemeClr val="tx1"/>
                </a:solidFill>
                <a:latin typeface="Times New Roman" panose="02020603050405020304" pitchFamily="18" charset="0"/>
                <a:cs typeface="Times New Roman" panose="02020603050405020304" pitchFamily="18" charset="0"/>
              </a:rPr>
              <a:t>Manually generated / simulated data :</a:t>
            </a:r>
            <a:r>
              <a:rPr lang="en-US" sz="1200" dirty="0">
                <a:solidFill>
                  <a:schemeClr val="tx1"/>
                </a:solidFill>
                <a:latin typeface="Times New Roman" panose="02020603050405020304" pitchFamily="18" charset="0"/>
                <a:cs typeface="Times New Roman" panose="02020603050405020304" pitchFamily="18" charset="0"/>
              </a:rPr>
              <a:t> for parameters not directly available</a:t>
            </a:r>
            <a:br>
              <a:rPr lang="en-US" sz="1600" dirty="0">
                <a:latin typeface="Times New Roman" panose="02020603050405020304" pitchFamily="18" charset="0"/>
                <a:cs typeface="Times New Roman" panose="02020603050405020304" pitchFamily="18" charset="0"/>
              </a:rPr>
            </a:br>
            <a:endParaRPr lang="en-IN" sz="9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96AA5F6-9347-8CB2-A5FA-1E388C091311}"/>
              </a:ext>
            </a:extLst>
          </p:cNvPr>
          <p:cNvPicPr>
            <a:picLocks noChangeAspect="1"/>
          </p:cNvPicPr>
          <p:nvPr/>
        </p:nvPicPr>
        <p:blipFill>
          <a:blip r:embed="rId3"/>
          <a:stretch>
            <a:fillRect/>
          </a:stretch>
        </p:blipFill>
        <p:spPr>
          <a:xfrm>
            <a:off x="1427579" y="2781300"/>
            <a:ext cx="5624378" cy="2024278"/>
          </a:xfrm>
          <a:prstGeom prst="rect">
            <a:avLst/>
          </a:prstGeom>
        </p:spPr>
      </p:pic>
    </p:spTree>
    <p:extLst>
      <p:ext uri="{BB962C8B-B14F-4D97-AF65-F5344CB8AC3E}">
        <p14:creationId xmlns:p14="http://schemas.microsoft.com/office/powerpoint/2010/main" val="95424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516D6F0D-5D42-A934-36A6-FE300CE6409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8AF52FD-A3DA-F149-B01D-4B84D4FCB875}"/>
              </a:ext>
            </a:extLst>
          </p:cNvPr>
          <p:cNvSpPr txBox="1"/>
          <p:nvPr/>
        </p:nvSpPr>
        <p:spPr>
          <a:xfrm>
            <a:off x="365760" y="220980"/>
            <a:ext cx="8595360" cy="4421723"/>
          </a:xfrm>
          <a:prstGeom prst="rect">
            <a:avLst/>
          </a:prstGeom>
          <a:noFill/>
        </p:spPr>
        <p:txBody>
          <a:bodyPr wrap="square">
            <a:spAutoFit/>
          </a:bodyPr>
          <a:lstStyle/>
          <a:p>
            <a:pPr>
              <a:spcAft>
                <a:spcPts val="1000"/>
              </a:spcAft>
            </a:pPr>
            <a:r>
              <a:rPr lang="en-IN" sz="3200" b="1" dirty="0">
                <a:solidFill>
                  <a:srgbClr val="00B0F0"/>
                </a:solidFill>
                <a:latin typeface="Times New Roman" panose="02020603050405020304" pitchFamily="18" charset="0"/>
                <a:cs typeface="Times New Roman" panose="02020603050405020304" pitchFamily="18" charset="0"/>
              </a:rPr>
              <a:t>Data Cleaning &amp; Normalization</a:t>
            </a:r>
            <a:endParaRPr lang="en-IN" sz="3600" dirty="0">
              <a:solidFill>
                <a:srgbClr val="00B0F0"/>
              </a:solidFill>
              <a:latin typeface="Times New Roman" panose="02020603050405020304" pitchFamily="18" charset="0"/>
              <a:cs typeface="Times New Roman" panose="02020603050405020304" pitchFamily="18" charset="0"/>
            </a:endParaRPr>
          </a:p>
          <a:p>
            <a:r>
              <a:rPr lang="en-US" sz="1200" dirty="0">
                <a:solidFill>
                  <a:schemeClr val="tx1"/>
                </a:solidFill>
                <a:latin typeface="Times New Roman" panose="02020603050405020304" pitchFamily="18" charset="0"/>
                <a:cs typeface="Times New Roman" panose="02020603050405020304" pitchFamily="18" charset="0"/>
              </a:rPr>
              <a:t>The collected data from multiple sources may contain missing values, inconsistencies, and different formats. Therefore, data cleaning is performed to remove duplicates, handle missing entries, and ensure consistency across all attributes. After cleaning, normalization is applied to convert all parameters into a common scale of 0 to 10. This standardization allows fair comparison and enables effective processing in the fuzzy logic system.</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rgbClr val="FDE68A"/>
                </a:solidFill>
                <a:latin typeface="Times New Roman" panose="02020603050405020304" pitchFamily="18" charset="0"/>
                <a:cs typeface="Times New Roman" panose="02020603050405020304" pitchFamily="18" charset="0"/>
              </a:rPr>
              <a:t>Data Cleaning Steps:</a:t>
            </a:r>
            <a:br>
              <a:rPr lang="en-US" sz="1200" b="1"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Removed duplicate entries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Handled missing values (filled or filtered)</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Standardized formats (e.g., ratings, distances)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Ensured valid latitude and longitude values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Normalization (0-10 Scale)</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rgbClr val="FDE68A"/>
                </a:solidFill>
                <a:latin typeface="Times New Roman" panose="02020603050405020304" pitchFamily="18" charset="0"/>
                <a:cs typeface="Times New Roman" panose="02020603050405020304" pitchFamily="18" charset="0"/>
              </a:rPr>
              <a:t>Different parameters have different units:</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Distance → kilometers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Cost → currency</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Ratings → 1-5 scale</a:t>
            </a: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b="1" dirty="0">
                <a:solidFill>
                  <a:srgbClr val="FDE68A"/>
                </a:solidFill>
                <a:latin typeface="Times New Roman" panose="02020603050405020304" pitchFamily="18" charset="0"/>
                <a:cs typeface="Times New Roman" panose="02020603050405020304" pitchFamily="18" charset="0"/>
              </a:rPr>
              <a:t>we convert everything to:       </a:t>
            </a:r>
            <a:r>
              <a:rPr lang="en-US" sz="1200" dirty="0">
                <a:solidFill>
                  <a:schemeClr val="tx1"/>
                </a:solidFill>
                <a:latin typeface="Times New Roman" panose="02020603050405020304" pitchFamily="18" charset="0"/>
                <a:cs typeface="Times New Roman" panose="02020603050405020304" pitchFamily="18" charset="0"/>
              </a:rPr>
              <a:t>0 - worst 10 - best</a:t>
            </a:r>
            <a:br>
              <a:rPr lang="en-US" sz="3600" dirty="0">
                <a:latin typeface="Times New Roman" panose="02020603050405020304" pitchFamily="18" charset="0"/>
                <a:cs typeface="Times New Roman" panose="02020603050405020304" pitchFamily="18" charset="0"/>
              </a:rPr>
            </a:br>
            <a:endParaRPr lang="en-IN" sz="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6144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2B894E7E-A022-1D16-AE10-20E8879C58A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0C950C3-D4C0-B042-F892-61DEC0DAC802}"/>
              </a:ext>
            </a:extLst>
          </p:cNvPr>
          <p:cNvSpPr/>
          <p:nvPr/>
        </p:nvSpPr>
        <p:spPr>
          <a:xfrm>
            <a:off x="2880360" y="1645920"/>
            <a:ext cx="1264920" cy="3962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3164398-782A-B204-AAC3-64B636CB10CC}"/>
              </a:ext>
            </a:extLst>
          </p:cNvPr>
          <p:cNvSpPr txBox="1"/>
          <p:nvPr/>
        </p:nvSpPr>
        <p:spPr>
          <a:xfrm>
            <a:off x="365760" y="220980"/>
            <a:ext cx="8412480" cy="4724370"/>
          </a:xfrm>
          <a:prstGeom prst="rect">
            <a:avLst/>
          </a:prstGeom>
          <a:noFill/>
        </p:spPr>
        <p:txBody>
          <a:bodyPr wrap="square">
            <a:spAutoFit/>
          </a:bodyPr>
          <a:lstStyle/>
          <a:p>
            <a:r>
              <a:rPr lang="en-IN" sz="3200" b="1" dirty="0">
                <a:solidFill>
                  <a:srgbClr val="00B0F0"/>
                </a:solidFill>
                <a:latin typeface="Times New Roman" panose="02020603050405020304" pitchFamily="18" charset="0"/>
                <a:cs typeface="Times New Roman" panose="02020603050405020304" pitchFamily="18" charset="0"/>
              </a:rPr>
              <a:t>Fuzzification &amp; Membership Functions</a:t>
            </a:r>
          </a:p>
          <a:p>
            <a:br>
              <a:rPr lang="en-IN" b="1"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In this step, normalized numerical values are converted into fuzzy values such as Low, Medium, and High using membership functions. Each input value does not belong to just one category but can partially belong to multiple categories. This allows the system to handle uncertainty and mimic human decision-making.</a:t>
            </a: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μ(x) ∈ [0,1]</a:t>
            </a:r>
          </a:p>
          <a:p>
            <a:endParaRPr lang="en-US" sz="1200" b="1" dirty="0">
              <a:solidFill>
                <a:schemeClr val="tx1"/>
              </a:solidFill>
              <a:latin typeface="Times New Roman" panose="02020603050405020304" pitchFamily="18" charset="0"/>
              <a:cs typeface="Times New Roman" panose="02020603050405020304" pitchFamily="18" charset="0"/>
            </a:endParaRP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Uses triangular membership functions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Output values range from 0 to 1</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One input → multiple memberships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&gt; Enables smooth transitions between categories</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Each value (0-10) is mapped using the graph:</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Example: Taste = 8</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rgbClr val="FDE68A"/>
                </a:solidFill>
                <a:latin typeface="Times New Roman" panose="02020603050405020304" pitchFamily="18" charset="0"/>
                <a:cs typeface="Times New Roman" panose="02020603050405020304" pitchFamily="18" charset="0"/>
              </a:rPr>
              <a:t>From the graph:</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Bad (Low) → 0</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Okay (Medium) → ~0.3-0.4</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Delicious (High) → ~0.6-0.7</a:t>
            </a:r>
            <a:br>
              <a:rPr lang="en-US" dirty="0">
                <a:solidFill>
                  <a:schemeClr val="tx1"/>
                </a:solidFill>
                <a:latin typeface="Times New Roman" panose="02020603050405020304" pitchFamily="18" charset="0"/>
                <a:cs typeface="Times New Roman" panose="02020603050405020304" pitchFamily="18" charset="0"/>
              </a:rPr>
            </a:br>
            <a:endParaRPr lang="en-IN" sz="100" dirty="0">
              <a:solidFill>
                <a:schemeClr val="tx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12F0FDF-D75B-203E-38FE-EDCFE14F9B8C}"/>
              </a:ext>
            </a:extLst>
          </p:cNvPr>
          <p:cNvPicPr>
            <a:picLocks noChangeAspect="1"/>
          </p:cNvPicPr>
          <p:nvPr/>
        </p:nvPicPr>
        <p:blipFill>
          <a:blip r:embed="rId3"/>
          <a:stretch>
            <a:fillRect/>
          </a:stretch>
        </p:blipFill>
        <p:spPr>
          <a:xfrm>
            <a:off x="4638745" y="2418238"/>
            <a:ext cx="3886200" cy="2331720"/>
          </a:xfrm>
          <a:prstGeom prst="rect">
            <a:avLst/>
          </a:prstGeom>
        </p:spPr>
      </p:pic>
    </p:spTree>
    <p:extLst>
      <p:ext uri="{BB962C8B-B14F-4D97-AF65-F5344CB8AC3E}">
        <p14:creationId xmlns:p14="http://schemas.microsoft.com/office/powerpoint/2010/main" val="4238291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E5B7313A-2FF8-380F-0F07-8FFA97DA0F6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58FCA18-C6C1-9301-891D-0E075DD67AC5}"/>
              </a:ext>
            </a:extLst>
          </p:cNvPr>
          <p:cNvSpPr txBox="1"/>
          <p:nvPr/>
        </p:nvSpPr>
        <p:spPr>
          <a:xfrm>
            <a:off x="365760" y="220980"/>
            <a:ext cx="8412480" cy="584775"/>
          </a:xfrm>
          <a:prstGeom prst="rect">
            <a:avLst/>
          </a:prstGeom>
          <a:noFill/>
        </p:spPr>
        <p:txBody>
          <a:bodyPr wrap="square">
            <a:spAutoFit/>
          </a:bodyPr>
          <a:lstStyle/>
          <a:p>
            <a:pPr>
              <a:spcBef>
                <a:spcPts val="2000"/>
              </a:spcBef>
            </a:pPr>
            <a:r>
              <a:rPr lang="en-US" sz="3200" b="1" dirty="0">
                <a:solidFill>
                  <a:schemeClr val="accent4"/>
                </a:solidFill>
              </a:rPr>
              <a:t>Fuzzy Rule Base &amp; Rule Evaluation</a:t>
            </a:r>
          </a:p>
        </p:txBody>
      </p:sp>
      <p:sp>
        <p:nvSpPr>
          <p:cNvPr id="2" name="TextBox 1">
            <a:extLst>
              <a:ext uri="{FF2B5EF4-FFF2-40B4-BE49-F238E27FC236}">
                <a16:creationId xmlns:a16="http://schemas.microsoft.com/office/drawing/2014/main" id="{FCECF101-0375-E491-1CBB-265A495DADC4}"/>
              </a:ext>
            </a:extLst>
          </p:cNvPr>
          <p:cNvSpPr txBox="1"/>
          <p:nvPr/>
        </p:nvSpPr>
        <p:spPr>
          <a:xfrm>
            <a:off x="434340" y="922020"/>
            <a:ext cx="8412480" cy="4401205"/>
          </a:xfrm>
          <a:prstGeom prst="rect">
            <a:avLst/>
          </a:prstGeom>
          <a:noFill/>
        </p:spPr>
        <p:txBody>
          <a:bodyPr wrap="square" rtlCol="0">
            <a:spAutoFit/>
          </a:bodyPr>
          <a:lstStyle/>
          <a:p>
            <a:r>
              <a:rPr lang="en-US" b="1" dirty="0">
                <a:solidFill>
                  <a:srgbClr val="FDE68A"/>
                </a:solidFill>
                <a:latin typeface="Times New Roman" panose="02020603050405020304" pitchFamily="18" charset="0"/>
                <a:cs typeface="Times New Roman" panose="02020603050405020304" pitchFamily="18" charset="0"/>
              </a:rPr>
              <a:t>Rule Base</a:t>
            </a: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The fuzzy rule base consists of a set of IF-THEN rules that model human decision-making. These rules combine different input parameters such as distance, cost, quality, taste, and ambience to determine the overall suitability of a place.</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IF Taste = High AND Quality = High → 95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IF Cost = High AND Distance = High → 30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IF Taste = Medium AND Ambience = Medium → 70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IF Taste = Low → 20  </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Instead of checking all 243 combinations, we use optimized rules (~40–50 rules)</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b="1" dirty="0">
                <a:solidFill>
                  <a:srgbClr val="FDE68A"/>
                </a:solidFill>
                <a:latin typeface="Times New Roman" panose="02020603050405020304" pitchFamily="18" charset="0"/>
                <a:cs typeface="Times New Roman" panose="02020603050405020304" pitchFamily="18" charset="0"/>
              </a:rPr>
              <a:t>Rule Evaluation</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During rule evaluation, multiple rules are activated simultaneously based on the fuzzy input values. The AND condition in each rule is evaluated using the MIN operator to determine the rule strength.</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b="1" dirty="0">
                <a:solidFill>
                  <a:schemeClr val="tx1"/>
                </a:solidFill>
                <a:latin typeface="Times New Roman" panose="02020603050405020304" pitchFamily="18" charset="0"/>
                <a:cs typeface="Times New Roman" panose="02020603050405020304" pitchFamily="18" charset="0"/>
              </a:rPr>
              <a:t>Example</a:t>
            </a:r>
          </a:p>
          <a:p>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Taste (High) = 0.9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Quality (High) = 0.8  </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endParaRPr lang="en-IN" sz="1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50B088A-69E5-4EEE-BE24-293DB93FD3C8}"/>
              </a:ext>
            </a:extLst>
          </p:cNvPr>
          <p:cNvSpPr txBox="1"/>
          <p:nvPr/>
        </p:nvSpPr>
        <p:spPr>
          <a:xfrm>
            <a:off x="2407920" y="4221480"/>
            <a:ext cx="5140960" cy="1184940"/>
          </a:xfrm>
          <a:prstGeom prst="rect">
            <a:avLst/>
          </a:prstGeom>
          <a:noFill/>
        </p:spPr>
        <p:txBody>
          <a:bodyPr wrap="square" rtlCol="0">
            <a:spAutoFit/>
          </a:bodyPr>
          <a:lstStyle/>
          <a:p>
            <a:r>
              <a:rPr lang="en-US" sz="1200" b="1" dirty="0">
                <a:solidFill>
                  <a:schemeClr val="tx1"/>
                </a:solidFill>
              </a:rPr>
              <a:t>Rule</a:t>
            </a:r>
          </a:p>
          <a:p>
            <a:br>
              <a:rPr lang="en-US" sz="1200" dirty="0">
                <a:solidFill>
                  <a:schemeClr val="tx1"/>
                </a:solidFill>
              </a:rPr>
            </a:br>
            <a:r>
              <a:rPr lang="en-US" sz="1200" dirty="0">
                <a:solidFill>
                  <a:schemeClr val="tx1"/>
                </a:solidFill>
              </a:rPr>
              <a:t>IF Taste = High AND Quality = High</a:t>
            </a:r>
            <a:br>
              <a:rPr lang="en-US" sz="1200" dirty="0">
                <a:solidFill>
                  <a:schemeClr val="tx1"/>
                </a:solidFill>
              </a:rPr>
            </a:br>
            <a:br>
              <a:rPr lang="en-US" sz="1200" dirty="0">
                <a:solidFill>
                  <a:schemeClr val="tx1"/>
                </a:solidFill>
              </a:rPr>
            </a:br>
            <a:br>
              <a:rPr lang="en-US" sz="1000" dirty="0">
                <a:solidFill>
                  <a:schemeClr val="tx1"/>
                </a:solidFill>
              </a:rPr>
            </a:br>
            <a:endParaRPr lang="en-IN" sz="100" dirty="0">
              <a:solidFill>
                <a:schemeClr val="tx1"/>
              </a:solidFill>
            </a:endParaRPr>
          </a:p>
          <a:p>
            <a:endParaRPr lang="en-IN" sz="1200" dirty="0"/>
          </a:p>
        </p:txBody>
      </p:sp>
      <p:sp>
        <p:nvSpPr>
          <p:cNvPr id="4" name="TextBox 3">
            <a:extLst>
              <a:ext uri="{FF2B5EF4-FFF2-40B4-BE49-F238E27FC236}">
                <a16:creationId xmlns:a16="http://schemas.microsoft.com/office/drawing/2014/main" id="{CC7681A8-4068-0071-A111-2D23FCEDBBD4}"/>
              </a:ext>
            </a:extLst>
          </p:cNvPr>
          <p:cNvSpPr txBox="1"/>
          <p:nvPr/>
        </p:nvSpPr>
        <p:spPr>
          <a:xfrm>
            <a:off x="5289550" y="4221480"/>
            <a:ext cx="4206240" cy="646331"/>
          </a:xfrm>
          <a:prstGeom prst="rect">
            <a:avLst/>
          </a:prstGeom>
          <a:noFill/>
        </p:spPr>
        <p:txBody>
          <a:bodyPr wrap="square" rtlCol="0">
            <a:spAutoFit/>
          </a:bodyPr>
          <a:lstStyle/>
          <a:p>
            <a:r>
              <a:rPr lang="en-US" sz="1200" b="1" dirty="0">
                <a:solidFill>
                  <a:schemeClr val="tx1"/>
                </a:solidFill>
              </a:rPr>
              <a:t>Rule Strength:</a:t>
            </a:r>
          </a:p>
          <a:p>
            <a:br>
              <a:rPr lang="en-US" sz="1200" dirty="0">
                <a:solidFill>
                  <a:schemeClr val="tx1"/>
                </a:solidFill>
              </a:rPr>
            </a:br>
            <a:r>
              <a:rPr lang="en-US" sz="1200" dirty="0">
                <a:solidFill>
                  <a:schemeClr val="tx1"/>
                </a:solidFill>
              </a:rPr>
              <a:t>min(0.9, 0.8) = 0.8</a:t>
            </a:r>
            <a:endParaRPr lang="en-IN" sz="1200" dirty="0">
              <a:solidFill>
                <a:schemeClr val="tx1"/>
              </a:solidFill>
            </a:endParaRPr>
          </a:p>
        </p:txBody>
      </p:sp>
    </p:spTree>
    <p:extLst>
      <p:ext uri="{BB962C8B-B14F-4D97-AF65-F5344CB8AC3E}">
        <p14:creationId xmlns:p14="http://schemas.microsoft.com/office/powerpoint/2010/main" val="178165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5CB9B6D7-B288-ECB2-B41B-3C4A729A733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23DF0FA-93EE-B139-6A2E-81EAB2EC93BB}"/>
              </a:ext>
            </a:extLst>
          </p:cNvPr>
          <p:cNvSpPr/>
          <p:nvPr/>
        </p:nvSpPr>
        <p:spPr>
          <a:xfrm>
            <a:off x="1630680" y="1600200"/>
            <a:ext cx="4602480" cy="4040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FE594DEC-95E6-4C85-164F-E1C152C6B48D}"/>
              </a:ext>
            </a:extLst>
          </p:cNvPr>
          <p:cNvSpPr/>
          <p:nvPr/>
        </p:nvSpPr>
        <p:spPr>
          <a:xfrm>
            <a:off x="2346960" y="3771900"/>
            <a:ext cx="3566160" cy="4040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2FFA6A4-C990-6D7F-A83D-F48F3CDC07A1}"/>
              </a:ext>
            </a:extLst>
          </p:cNvPr>
          <p:cNvSpPr txBox="1"/>
          <p:nvPr/>
        </p:nvSpPr>
        <p:spPr>
          <a:xfrm>
            <a:off x="365760" y="220980"/>
            <a:ext cx="8412480" cy="3954929"/>
          </a:xfrm>
          <a:prstGeom prst="rect">
            <a:avLst/>
          </a:prstGeom>
          <a:noFill/>
        </p:spPr>
        <p:txBody>
          <a:bodyPr wrap="square">
            <a:spAutoFit/>
          </a:bodyPr>
          <a:lstStyle/>
          <a:p>
            <a:r>
              <a:rPr lang="en-IN" sz="3200" b="1" dirty="0">
                <a:solidFill>
                  <a:schemeClr val="accent4"/>
                </a:solidFill>
                <a:latin typeface="Times New Roman" panose="02020603050405020304" pitchFamily="18" charset="0"/>
                <a:cs typeface="Times New Roman" panose="02020603050405020304" pitchFamily="18" charset="0"/>
              </a:rPr>
              <a:t>Defuzzification</a:t>
            </a:r>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After rule evaluation, multiple rules produce outputs with different strengths. These outputs are combined using a defuzzification method to generate a single crisp value. This final score represents the overall suitability of the place.</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                    </a:t>
            </a:r>
          </a:p>
          <a:p>
            <a:r>
              <a:rPr lang="en-US" sz="1200" dirty="0">
                <a:solidFill>
                  <a:schemeClr val="tx1"/>
                </a:solidFill>
                <a:latin typeface="Times New Roman" panose="02020603050405020304" pitchFamily="18" charset="0"/>
                <a:cs typeface="Times New Roman" panose="02020603050405020304" pitchFamily="18" charset="0"/>
              </a:rPr>
              <a:t>                                    </a:t>
            </a:r>
            <a:r>
              <a:rPr lang="en-US" sz="1200" b="1" dirty="0">
                <a:solidFill>
                  <a:schemeClr val="tx1"/>
                </a:solidFill>
                <a:latin typeface="Times New Roman" panose="02020603050405020304" pitchFamily="18" charset="0"/>
                <a:cs typeface="Times New Roman" panose="02020603050405020304" pitchFamily="18" charset="0"/>
              </a:rPr>
              <a:t>Fuzzy Output → Linguistic Label and Single Numerical Value</a:t>
            </a:r>
            <a:br>
              <a:rPr lang="en-US" b="1" dirty="0">
                <a:solidFill>
                  <a:schemeClr val="tx1"/>
                </a:solidFill>
                <a:latin typeface="Times New Roman" panose="02020603050405020304" pitchFamily="18" charset="0"/>
                <a:cs typeface="Times New Roman" panose="02020603050405020304" pitchFamily="18" charset="0"/>
              </a:rPr>
            </a:br>
            <a:br>
              <a:rPr lang="en-US" b="1" dirty="0">
                <a:solidFill>
                  <a:schemeClr val="tx1"/>
                </a:solidFill>
                <a:latin typeface="Times New Roman" panose="02020603050405020304" pitchFamily="18" charset="0"/>
                <a:cs typeface="Times New Roman" panose="02020603050405020304" pitchFamily="18" charset="0"/>
              </a:rPr>
            </a:br>
            <a:br>
              <a:rPr lang="en-US" dirty="0">
                <a:solidFill>
                  <a:schemeClr val="tx1"/>
                </a:solidFill>
                <a:latin typeface="Times New Roman" panose="02020603050405020304" pitchFamily="18" charset="0"/>
                <a:cs typeface="Times New Roman" panose="02020603050405020304" pitchFamily="18" charset="0"/>
              </a:rPr>
            </a:br>
            <a:r>
              <a:rPr lang="en-US" sz="1600" b="1" dirty="0">
                <a:solidFill>
                  <a:srgbClr val="FDE68A"/>
                </a:solidFill>
                <a:latin typeface="Times New Roman" panose="02020603050405020304" pitchFamily="18" charset="0"/>
                <a:cs typeface="Times New Roman" panose="02020603050405020304" pitchFamily="18" charset="0"/>
              </a:rPr>
              <a:t>Weighted Average Method</a:t>
            </a:r>
            <a:br>
              <a:rPr lang="en-US" dirty="0">
                <a:solidFill>
                  <a:schemeClr val="tx1"/>
                </a:solidFill>
                <a:latin typeface="Times New Roman" panose="02020603050405020304" pitchFamily="18" charset="0"/>
                <a:cs typeface="Times New Roman" panose="02020603050405020304" pitchFamily="18" charset="0"/>
              </a:rPr>
            </a:br>
            <a:br>
              <a:rPr lang="en-US" dirty="0">
                <a:solidFill>
                  <a:schemeClr val="tx1"/>
                </a:solidFill>
                <a:latin typeface="Times New Roman" panose="02020603050405020304" pitchFamily="18" charset="0"/>
                <a:cs typeface="Times New Roman" panose="02020603050405020304" pitchFamily="18" charset="0"/>
              </a:rPr>
            </a:br>
            <a:br>
              <a:rPr lang="en-US"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The weighted average method combines the outputs of all activated rules based on their strengths.</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Each rule’s output is multiplied by its strength, and the final score is obtained by averaging these values proportionally.</a:t>
            </a:r>
            <a:br>
              <a:rPr lang="en-US" sz="1200" dirty="0">
                <a:solidFill>
                  <a:schemeClr val="tx1"/>
                </a:solidFill>
                <a:latin typeface="Times New Roman" panose="02020603050405020304" pitchFamily="18" charset="0"/>
                <a:cs typeface="Times New Roman" panose="02020603050405020304" pitchFamily="18" charset="0"/>
              </a:rPr>
            </a:b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                                     </a:t>
            </a:r>
          </a:p>
          <a:p>
            <a:r>
              <a:rPr lang="en-US" sz="1200" dirty="0">
                <a:solidFill>
                  <a:schemeClr val="tx1"/>
                </a:solidFill>
                <a:latin typeface="Times New Roman" panose="02020603050405020304" pitchFamily="18" charset="0"/>
                <a:cs typeface="Times New Roman" panose="02020603050405020304" pitchFamily="18" charset="0"/>
              </a:rPr>
              <a:t>                                        </a:t>
            </a:r>
          </a:p>
          <a:p>
            <a:r>
              <a:rPr lang="en-US" sz="1200" dirty="0">
                <a:solidFill>
                  <a:schemeClr val="tx1"/>
                </a:solidFill>
                <a:latin typeface="Times New Roman" panose="02020603050405020304" pitchFamily="18" charset="0"/>
                <a:cs typeface="Times New Roman" panose="02020603050405020304" pitchFamily="18" charset="0"/>
              </a:rPr>
              <a:t>                                                     </a:t>
            </a:r>
            <a:r>
              <a:rPr lang="en-US" sz="1200" b="1" dirty="0">
                <a:solidFill>
                  <a:schemeClr val="tx1"/>
                </a:solidFill>
                <a:latin typeface="Times New Roman" panose="02020603050405020304" pitchFamily="18" charset="0"/>
                <a:cs typeface="Times New Roman" panose="02020603050405020304" pitchFamily="18" charset="0"/>
              </a:rPr>
              <a:t>Final Score = </a:t>
            </a:r>
            <a:r>
              <a:rPr lang="en-US" sz="1200" b="1" dirty="0" err="1">
                <a:solidFill>
                  <a:schemeClr val="tx1"/>
                </a:solidFill>
                <a:latin typeface="Times New Roman" panose="02020603050405020304" pitchFamily="18" charset="0"/>
                <a:cs typeface="Times New Roman" panose="02020603050405020304" pitchFamily="18" charset="0"/>
              </a:rPr>
              <a:t>Σ</a:t>
            </a:r>
            <a:r>
              <a:rPr lang="en-US" sz="1200" b="1" dirty="0">
                <a:solidFill>
                  <a:schemeClr val="tx1"/>
                </a:solidFill>
                <a:latin typeface="Times New Roman" panose="02020603050405020304" pitchFamily="18" charset="0"/>
                <a:cs typeface="Times New Roman" panose="02020603050405020304" pitchFamily="18" charset="0"/>
              </a:rPr>
              <a:t>(output × strength) / </a:t>
            </a:r>
            <a:r>
              <a:rPr lang="en-US" sz="1200" b="1" dirty="0" err="1">
                <a:solidFill>
                  <a:schemeClr val="tx1"/>
                </a:solidFill>
                <a:latin typeface="Times New Roman" panose="02020603050405020304" pitchFamily="18" charset="0"/>
                <a:cs typeface="Times New Roman" panose="02020603050405020304" pitchFamily="18" charset="0"/>
              </a:rPr>
              <a:t>Σ</a:t>
            </a:r>
            <a:r>
              <a:rPr lang="en-US" sz="1200" b="1" dirty="0">
                <a:solidFill>
                  <a:schemeClr val="tx1"/>
                </a:solidFill>
                <a:latin typeface="Times New Roman" panose="02020603050405020304" pitchFamily="18" charset="0"/>
                <a:cs typeface="Times New Roman" panose="02020603050405020304" pitchFamily="18" charset="0"/>
              </a:rPr>
              <a:t>(strength)</a:t>
            </a:r>
            <a:br>
              <a:rPr lang="en-US" b="1" dirty="0">
                <a:solidFill>
                  <a:schemeClr val="tx1"/>
                </a:solidFill>
                <a:latin typeface="Times New Roman" panose="02020603050405020304" pitchFamily="18" charset="0"/>
                <a:cs typeface="Times New Roman" panose="02020603050405020304" pitchFamily="18" charset="0"/>
              </a:rPr>
            </a:br>
            <a:endParaRPr lang="en-IN" sz="1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199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B25D54FC-621A-BFFE-F430-016B69C9CFFD}"/>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3BFAC30-94E7-4860-8872-9F2727660C02}"/>
              </a:ext>
            </a:extLst>
          </p:cNvPr>
          <p:cNvSpPr/>
          <p:nvPr/>
        </p:nvSpPr>
        <p:spPr>
          <a:xfrm>
            <a:off x="1699260" y="3771900"/>
            <a:ext cx="4579620" cy="4457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2EFBFD58-78A5-7511-2873-2E16D88AD695}"/>
              </a:ext>
            </a:extLst>
          </p:cNvPr>
          <p:cNvSpPr/>
          <p:nvPr/>
        </p:nvSpPr>
        <p:spPr>
          <a:xfrm>
            <a:off x="3200400" y="2125980"/>
            <a:ext cx="1463040" cy="4457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724EA76-CC25-5A88-2E2D-2860F1EA6F03}"/>
              </a:ext>
            </a:extLst>
          </p:cNvPr>
          <p:cNvSpPr txBox="1"/>
          <p:nvPr/>
        </p:nvSpPr>
        <p:spPr>
          <a:xfrm>
            <a:off x="365760" y="220980"/>
            <a:ext cx="8412480" cy="4724370"/>
          </a:xfrm>
          <a:prstGeom prst="rect">
            <a:avLst/>
          </a:prstGeom>
          <a:noFill/>
        </p:spPr>
        <p:txBody>
          <a:bodyPr wrap="square">
            <a:spAutoFit/>
          </a:bodyPr>
          <a:lstStyle/>
          <a:p>
            <a:r>
              <a:rPr lang="en-IN" sz="3200" b="1" dirty="0">
                <a:solidFill>
                  <a:schemeClr val="accent4"/>
                </a:solidFill>
                <a:latin typeface="Times New Roman" panose="02020603050405020304" pitchFamily="18" charset="0"/>
                <a:ea typeface="Tahoma" panose="020B0604030504040204" pitchFamily="34" charset="0"/>
                <a:cs typeface="Times New Roman" panose="02020603050405020304" pitchFamily="18" charset="0"/>
              </a:rPr>
              <a:t>Output</a:t>
            </a:r>
          </a:p>
          <a:p>
            <a:br>
              <a:rPr lang="en-IN"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After applying fuzzy membership functions and evaluating multiple rules, the system combines all partial results using defuzzification to produce a single sustainability score. This score represents the overall suitability of a place by considering multiple factors simultaneously. Although the final output is a crisp value, it is derived from fuzzy reasoning where inputs belong to multiple categories and multiple rules contribute to the decision.</a:t>
            </a: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r>
              <a:rPr lang="en-US" sz="1200" b="1" dirty="0">
                <a:solidFill>
                  <a:srgbClr val="FDE68A"/>
                </a:solidFill>
                <a:latin typeface="Times New Roman" panose="02020603050405020304" pitchFamily="18" charset="0"/>
                <a:ea typeface="Tahoma" panose="020B0604030504040204" pitchFamily="34" charset="0"/>
                <a:cs typeface="Times New Roman" panose="02020603050405020304" pitchFamily="18" charset="0"/>
              </a:rPr>
              <a:t>Numerical Score(Sustainability Score)</a:t>
            </a: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Range: 0 – 100</a:t>
            </a:r>
          </a:p>
          <a:p>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Represents Overall evaluation of a place based on multiple factors such as distance, cost, quality, taste, ambience, etc., computed using fuzzy logic.</a:t>
            </a: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r>
              <a:rPr lang="en-US" sz="1200" b="1" dirty="0">
                <a:solidFill>
                  <a:srgbClr val="FDE68A"/>
                </a:solidFill>
                <a:latin typeface="Times New Roman" panose="02020603050405020304" pitchFamily="18" charset="0"/>
                <a:ea typeface="Tahoma" panose="020B0604030504040204" pitchFamily="34" charset="0"/>
                <a:cs typeface="Times New Roman" panose="02020603050405020304" pitchFamily="18" charset="0"/>
              </a:rPr>
              <a:t>Linguistic Term(Human-Readable Output)</a:t>
            </a:r>
          </a:p>
          <a:p>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Result: Very Bad, Bad, Average, Good, Very Good, Excellent</a:t>
            </a:r>
          </a:p>
          <a:p>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b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r>
              <a:rPr lang="en-US" sz="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Represents A simplified, human-friendly interpretation of the numerical score, helping users easily understand the quality of a place without needing technical details</a:t>
            </a:r>
            <a:r>
              <a:rPr lang="en-US"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a:t>
            </a:r>
            <a:br>
              <a:rPr lang="en-US"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br>
            <a:endParaRPr lang="en-IN" sz="10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64150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1AF1745B-6A64-3942-16EB-09F32DF2B8A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4984A10-59FE-7B8C-E519-8F75D01844C2}"/>
              </a:ext>
            </a:extLst>
          </p:cNvPr>
          <p:cNvSpPr txBox="1"/>
          <p:nvPr/>
        </p:nvSpPr>
        <p:spPr>
          <a:xfrm>
            <a:off x="160020" y="0"/>
            <a:ext cx="5111227" cy="4237057"/>
          </a:xfrm>
          <a:prstGeom prst="rect">
            <a:avLst/>
          </a:prstGeom>
          <a:noFill/>
        </p:spPr>
        <p:txBody>
          <a:bodyPr wrap="square">
            <a:spAutoFit/>
          </a:bodyPr>
          <a:lstStyle/>
          <a:p>
            <a:pPr marL="0" lvl="0" indent="0" algn="just">
              <a:lnSpc>
                <a:spcPct val="150000"/>
              </a:lnSpc>
              <a:buNone/>
            </a:pPr>
            <a:r>
              <a:rPr lang="en-US" sz="3200" b="1" dirty="0">
                <a:solidFill>
                  <a:schemeClr val="accent4"/>
                </a:solidFill>
                <a:latin typeface="Times New Roman" panose="02020603050405020304" pitchFamily="18" charset="0"/>
                <a:cs typeface="Times New Roman" panose="02020603050405020304" pitchFamily="18" charset="0"/>
              </a:rPr>
              <a:t>System</a:t>
            </a:r>
            <a:r>
              <a:rPr lang="en-US" sz="3200" b="1" dirty="0">
                <a:solidFill>
                  <a:schemeClr val="tx1"/>
                </a:solidFill>
                <a:latin typeface="Times New Roman" panose="02020603050405020304" pitchFamily="18" charset="0"/>
                <a:cs typeface="Times New Roman" panose="02020603050405020304" pitchFamily="18" charset="0"/>
              </a:rPr>
              <a:t> </a:t>
            </a:r>
            <a:r>
              <a:rPr lang="en-US" sz="3200" b="1" dirty="0">
                <a:solidFill>
                  <a:schemeClr val="accent4"/>
                </a:solidFill>
                <a:latin typeface="Times New Roman" panose="02020603050405020304" pitchFamily="18" charset="0"/>
                <a:cs typeface="Times New Roman" panose="02020603050405020304" pitchFamily="18" charset="0"/>
              </a:rPr>
              <a:t>Implementation</a:t>
            </a:r>
          </a:p>
          <a:p>
            <a:pPr marL="0" lvl="0" indent="0" algn="just">
              <a:lnSpc>
                <a:spcPct val="150000"/>
              </a:lnSpc>
              <a:buNone/>
            </a:pPr>
            <a:r>
              <a:rPr lang="en-US" sz="1200" dirty="0">
                <a:solidFill>
                  <a:schemeClr val="tx1"/>
                </a:solidFill>
                <a:latin typeface="Times New Roman" panose="02020603050405020304" pitchFamily="18" charset="0"/>
                <a:cs typeface="Times New Roman" panose="02020603050405020304" pitchFamily="18" charset="0"/>
              </a:rPr>
              <a:t>The proposed system is implemented as a web-based application that integrates</a:t>
            </a:r>
          </a:p>
          <a:p>
            <a:pPr marL="0" lvl="0" indent="0" algn="just">
              <a:lnSpc>
                <a:spcPct val="150000"/>
              </a:lnSpc>
              <a:buNone/>
            </a:pPr>
            <a:r>
              <a:rPr lang="en-US" sz="1200" dirty="0">
                <a:solidFill>
                  <a:schemeClr val="tx1"/>
                </a:solidFill>
                <a:latin typeface="Times New Roman" panose="02020603050405020304" pitchFamily="18" charset="0"/>
                <a:cs typeface="Times New Roman" panose="02020603050405020304" pitchFamily="18" charset="0"/>
              </a:rPr>
              <a:t>data collection, preprocessing, and fuzzy logic evaluation. It processes real-world data from multiple sources, normalizes it, and applies fuzzy rules to generate a sustainability score. The results are presented through an interactive user interface for easy access and decision-making.</a:t>
            </a:r>
          </a:p>
          <a:p>
            <a:pPr marL="0" lvl="0" indent="0" algn="just">
              <a:lnSpc>
                <a:spcPct val="150000"/>
              </a:lnSpc>
              <a:buNone/>
            </a:pPr>
            <a:endParaRPr lang="en-US" sz="1200" dirty="0">
              <a:solidFill>
                <a:schemeClr val="tx1"/>
              </a:solidFill>
              <a:latin typeface="Times New Roman" panose="02020603050405020304" pitchFamily="18" charset="0"/>
              <a:cs typeface="Times New Roman" panose="02020603050405020304" pitchFamily="18" charset="0"/>
            </a:endParaRPr>
          </a:p>
          <a:p>
            <a:pPr marL="0" lvl="0" indent="0" algn="just">
              <a:spcAft>
                <a:spcPts val="1000"/>
              </a:spcAft>
              <a:buNone/>
            </a:pPr>
            <a:r>
              <a:rPr lang="en-US" b="1" dirty="0">
                <a:solidFill>
                  <a:srgbClr val="FDE68A"/>
                </a:solidFill>
                <a:latin typeface="Times New Roman" panose="02020603050405020304" pitchFamily="18" charset="0"/>
                <a:cs typeface="Times New Roman" panose="02020603050405020304" pitchFamily="18" charset="0"/>
              </a:rPr>
              <a:t>Technologies Used</a:t>
            </a:r>
          </a:p>
          <a:p>
            <a:pPr marL="0" lvl="0" indent="0" algn="just">
              <a:lnSpc>
                <a:spcPct val="150000"/>
              </a:lnSpc>
              <a:buNone/>
            </a:pPr>
            <a:r>
              <a:rPr lang="en-US" sz="1200" b="1" dirty="0">
                <a:solidFill>
                  <a:schemeClr val="tx1"/>
                </a:solidFill>
                <a:latin typeface="Times New Roman" panose="02020603050405020304" pitchFamily="18" charset="0"/>
                <a:cs typeface="Times New Roman" panose="02020603050405020304" pitchFamily="18" charset="0"/>
              </a:rPr>
              <a:t>Frontend</a:t>
            </a:r>
            <a:r>
              <a:rPr lang="en-US" sz="1200" dirty="0">
                <a:solidFill>
                  <a:schemeClr val="tx1"/>
                </a:solidFill>
                <a:latin typeface="Times New Roman" panose="02020603050405020304" pitchFamily="18" charset="0"/>
                <a:cs typeface="Times New Roman" panose="02020603050405020304" pitchFamily="18" charset="0"/>
              </a:rPr>
              <a:t>: HTML, CSS, JavaScript</a:t>
            </a:r>
          </a:p>
          <a:p>
            <a:pPr marL="0" lvl="0" indent="0" algn="just">
              <a:lnSpc>
                <a:spcPct val="150000"/>
              </a:lnSpc>
              <a:buNone/>
            </a:pPr>
            <a:r>
              <a:rPr lang="en-US" sz="1200" b="1" dirty="0">
                <a:solidFill>
                  <a:schemeClr val="tx1"/>
                </a:solidFill>
                <a:latin typeface="Times New Roman" panose="02020603050405020304" pitchFamily="18" charset="0"/>
                <a:cs typeface="Times New Roman" panose="02020603050405020304" pitchFamily="18" charset="0"/>
              </a:rPr>
              <a:t>Backend/Data Processing</a:t>
            </a:r>
            <a:r>
              <a:rPr lang="en-US" sz="1200" dirty="0">
                <a:solidFill>
                  <a:schemeClr val="tx1"/>
                </a:solidFill>
                <a:latin typeface="Times New Roman" panose="02020603050405020304" pitchFamily="18" charset="0"/>
                <a:cs typeface="Times New Roman" panose="02020603050405020304" pitchFamily="18" charset="0"/>
              </a:rPr>
              <a:t>: JavaScript (Fuzzy Logic Engine)</a:t>
            </a:r>
          </a:p>
          <a:p>
            <a:pPr marL="0" lvl="0" indent="0" algn="just">
              <a:lnSpc>
                <a:spcPct val="150000"/>
              </a:lnSpc>
              <a:buNone/>
            </a:pPr>
            <a:r>
              <a:rPr lang="en-US" sz="1200" b="1" dirty="0">
                <a:solidFill>
                  <a:schemeClr val="tx1"/>
                </a:solidFill>
                <a:latin typeface="Times New Roman" panose="02020603050405020304" pitchFamily="18" charset="0"/>
                <a:cs typeface="Times New Roman" panose="02020603050405020304" pitchFamily="18" charset="0"/>
              </a:rPr>
              <a:t>Data Sources</a:t>
            </a:r>
            <a:r>
              <a:rPr lang="en-US" sz="1200" dirty="0">
                <a:solidFill>
                  <a:schemeClr val="tx1"/>
                </a:solidFill>
                <a:latin typeface="Times New Roman" panose="02020603050405020304" pitchFamily="18" charset="0"/>
                <a:cs typeface="Times New Roman" panose="02020603050405020304" pitchFamily="18" charset="0"/>
              </a:rPr>
              <a:t>: OpenStreetMap (OSM), Google Maps</a:t>
            </a:r>
          </a:p>
          <a:p>
            <a:pPr marL="0" lvl="0" indent="0" algn="just">
              <a:lnSpc>
                <a:spcPct val="150000"/>
              </a:lnSpc>
              <a:buNone/>
            </a:pPr>
            <a:r>
              <a:rPr lang="en-US" sz="1200" b="1" dirty="0">
                <a:solidFill>
                  <a:schemeClr val="tx1"/>
                </a:solidFill>
                <a:latin typeface="Times New Roman" panose="02020603050405020304" pitchFamily="18" charset="0"/>
                <a:cs typeface="Times New Roman" panose="02020603050405020304" pitchFamily="18" charset="0"/>
              </a:rPr>
              <a:t>Libraries/Tools</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GeoJSON</a:t>
            </a:r>
            <a:r>
              <a:rPr lang="en-US" sz="1200" dirty="0">
                <a:solidFill>
                  <a:schemeClr val="tx1"/>
                </a:solidFill>
                <a:latin typeface="Times New Roman" panose="02020603050405020304" pitchFamily="18" charset="0"/>
                <a:cs typeface="Times New Roman" panose="02020603050405020304" pitchFamily="18" charset="0"/>
              </a:rPr>
              <a:t>, Geolocation APIs</a:t>
            </a:r>
          </a:p>
          <a:p>
            <a:pPr marL="0" lvl="0" indent="0" algn="just">
              <a:lnSpc>
                <a:spcPct val="150000"/>
              </a:lnSpc>
              <a:buNone/>
            </a:pPr>
            <a:endParaRPr lang="en-US" sz="1200" dirty="0">
              <a:solidFill>
                <a:schemeClr val="tx1"/>
              </a:solidFill>
              <a:latin typeface="Times New Roman" panose="02020603050405020304" pitchFamily="18" charset="0"/>
              <a:cs typeface="Times New Roman" panose="02020603050405020304" pitchFamily="18" charset="0"/>
            </a:endParaRPr>
          </a:p>
          <a:p>
            <a:pPr algn="just"/>
            <a:endParaRPr lang="en-IN" sz="1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5FFBAD4-A2E0-61F2-4286-0940CECF5AE8}"/>
              </a:ext>
            </a:extLst>
          </p:cNvPr>
          <p:cNvPicPr>
            <a:picLocks noChangeAspect="1"/>
          </p:cNvPicPr>
          <p:nvPr/>
        </p:nvPicPr>
        <p:blipFill>
          <a:blip r:embed="rId3"/>
          <a:stretch>
            <a:fillRect/>
          </a:stretch>
        </p:blipFill>
        <p:spPr>
          <a:xfrm>
            <a:off x="6156392" y="515050"/>
            <a:ext cx="2621848" cy="4282014"/>
          </a:xfrm>
          <a:prstGeom prst="rect">
            <a:avLst/>
          </a:prstGeom>
        </p:spPr>
      </p:pic>
    </p:spTree>
    <p:extLst>
      <p:ext uri="{BB962C8B-B14F-4D97-AF65-F5344CB8AC3E}">
        <p14:creationId xmlns:p14="http://schemas.microsoft.com/office/powerpoint/2010/main" val="2381567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0D5E7A"/>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anose="02020603050405020304" pitchFamily="18" charset="0"/>
                <a:ea typeface="Calibri" pitchFamily="34" charset="-122"/>
                <a:cs typeface="Times New Roman" panose="02020603050405020304" pitchFamily="18" charset="0"/>
              </a:rPr>
              <a:t>User Evaluation Results</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457200" y="804672"/>
            <a:ext cx="8229600" cy="274320"/>
          </a:xfrm>
          <a:prstGeom prst="rect">
            <a:avLst/>
          </a:prstGeom>
          <a:noFill/>
          <a:ln/>
        </p:spPr>
        <p:txBody>
          <a:bodyPr wrap="square" lIns="0" tIns="0" rIns="0" bIns="0" rtlCol="0" anchor="ctr"/>
          <a:lstStyle/>
          <a:p>
            <a:pPr marL="0" indent="0">
              <a:buNone/>
            </a:pPr>
            <a:r>
              <a:rPr lang="en-US" sz="1200" dirty="0">
                <a:solidFill>
                  <a:srgbClr val="84CC16"/>
                </a:solidFill>
                <a:latin typeface="Times New Roman" panose="02020603050405020304" pitchFamily="18" charset="0"/>
                <a:ea typeface="Calibri" pitchFamily="34" charset="-122"/>
                <a:cs typeface="Times New Roman" panose="02020603050405020304" pitchFamily="18" charset="0"/>
              </a:rPr>
              <a:t>Survey of 13 users · May 2026</a:t>
            </a:r>
            <a:endParaRPr lang="en-US" sz="1200" dirty="0">
              <a:latin typeface="Times New Roman" panose="02020603050405020304" pitchFamily="18" charset="0"/>
              <a:cs typeface="Times New Roman" panose="02020603050405020304" pitchFamily="18" charset="0"/>
            </a:endParaRPr>
          </a:p>
        </p:txBody>
      </p:sp>
      <p:sp>
        <p:nvSpPr>
          <p:cNvPr id="5" name="Shape 3"/>
          <p:cNvSpPr/>
          <p:nvPr/>
        </p:nvSpPr>
        <p:spPr>
          <a:xfrm>
            <a:off x="365760" y="1184148"/>
            <a:ext cx="1572768" cy="1234440"/>
          </a:xfrm>
          <a:prstGeom prst="rect">
            <a:avLst/>
          </a:prstGeom>
          <a:solidFill>
            <a:srgbClr val="0A4F67"/>
          </a:solidFill>
          <a:ln/>
          <a:effectLst>
            <a:outerShdw blurRad="101600" dist="38100" dir="8100000" algn="bl" rotWithShape="0">
              <a:srgbClr val="000000">
                <a:alpha val="25000"/>
              </a:srgbClr>
            </a:outerShdw>
          </a:effectLst>
        </p:spPr>
        <p:txBody>
          <a:bodyPr/>
          <a:lstStyle/>
          <a:p>
            <a:endParaRPr lang="en-CH" dirty="0">
              <a:latin typeface="Times New Roman" panose="02020603050405020304" pitchFamily="18" charset="0"/>
              <a:cs typeface="Times New Roman" panose="02020603050405020304" pitchFamily="18" charset="0"/>
            </a:endParaRPr>
          </a:p>
        </p:txBody>
      </p:sp>
      <p:sp>
        <p:nvSpPr>
          <p:cNvPr id="7" name="Text 5"/>
          <p:cNvSpPr/>
          <p:nvPr/>
        </p:nvSpPr>
        <p:spPr>
          <a:xfrm>
            <a:off x="502920" y="1280160"/>
            <a:ext cx="1435608" cy="475488"/>
          </a:xfrm>
          <a:prstGeom prst="rect">
            <a:avLst/>
          </a:prstGeom>
          <a:noFill/>
          <a:ln/>
        </p:spPr>
        <p:txBody>
          <a:bodyPr wrap="square" lIns="0" tIns="0" rIns="0" bIns="0" rtlCol="0" anchor="ctr"/>
          <a:lstStyle/>
          <a:p>
            <a:pPr marL="0" indent="0" algn="ctr">
              <a:buNone/>
            </a:pPr>
            <a:r>
              <a:rPr lang="en-US" sz="2800" b="1" dirty="0">
                <a:solidFill>
                  <a:srgbClr val="22D3EE"/>
                </a:solidFill>
                <a:latin typeface="Times New Roman" panose="02020603050405020304" pitchFamily="18" charset="0"/>
                <a:ea typeface="Calibri" pitchFamily="34" charset="-122"/>
                <a:cs typeface="Times New Roman" panose="02020603050405020304" pitchFamily="18" charset="0"/>
              </a:rPr>
              <a:t>3.8/5</a:t>
            </a:r>
            <a:endParaRPr lang="en-US" sz="2800" dirty="0">
              <a:latin typeface="Times New Roman" panose="02020603050405020304" pitchFamily="18" charset="0"/>
              <a:cs typeface="Times New Roman" panose="02020603050405020304" pitchFamily="18" charset="0"/>
            </a:endParaRPr>
          </a:p>
        </p:txBody>
      </p:sp>
      <p:sp>
        <p:nvSpPr>
          <p:cNvPr id="8" name="Text 6"/>
          <p:cNvSpPr/>
          <p:nvPr/>
        </p:nvSpPr>
        <p:spPr>
          <a:xfrm>
            <a:off x="475488" y="1746504"/>
            <a:ext cx="1463040" cy="402336"/>
          </a:xfrm>
          <a:prstGeom prst="rect">
            <a:avLst/>
          </a:prstGeom>
          <a:noFill/>
          <a:ln/>
        </p:spPr>
        <p:txBody>
          <a:bodyPr wrap="square" lIns="0" tIns="0" rIns="0" bIns="0" rtlCol="0" anchor="ctr"/>
          <a:lstStyle/>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Avg. Visual</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Design Rating</a:t>
            </a:r>
            <a:endParaRPr lang="en-US" sz="1050" dirty="0">
              <a:latin typeface="Times New Roman" panose="02020603050405020304" pitchFamily="18" charset="0"/>
              <a:cs typeface="Times New Roman" panose="02020603050405020304" pitchFamily="18" charset="0"/>
            </a:endParaRPr>
          </a:p>
        </p:txBody>
      </p:sp>
      <p:sp>
        <p:nvSpPr>
          <p:cNvPr id="9" name="Text 7"/>
          <p:cNvSpPr/>
          <p:nvPr/>
        </p:nvSpPr>
        <p:spPr>
          <a:xfrm>
            <a:off x="475488" y="2148840"/>
            <a:ext cx="1463040" cy="201168"/>
          </a:xfrm>
          <a:prstGeom prst="rect">
            <a:avLst/>
          </a:prstGeom>
          <a:noFill/>
          <a:ln/>
        </p:spPr>
        <p:txBody>
          <a:bodyPr wrap="square" lIns="0" tIns="0" rIns="0" bIns="0" rtlCol="0" anchor="ctr"/>
          <a:lstStyle/>
          <a:p>
            <a:pPr marL="0" indent="0" algn="ctr">
              <a:buNone/>
            </a:pPr>
            <a:r>
              <a:rPr lang="en-US" sz="900" i="1" dirty="0">
                <a:solidFill>
                  <a:srgbClr val="84CC16"/>
                </a:solidFill>
                <a:latin typeface="Times New Roman" panose="02020603050405020304" pitchFamily="18" charset="0"/>
                <a:ea typeface="Calibri" pitchFamily="34" charset="-122"/>
                <a:cs typeface="Times New Roman" panose="02020603050405020304" pitchFamily="18" charset="0"/>
              </a:rPr>
              <a:t>UI Clarity</a:t>
            </a:r>
            <a:endParaRPr lang="en-US" sz="900" dirty="0">
              <a:latin typeface="Times New Roman" panose="02020603050405020304" pitchFamily="18" charset="0"/>
              <a:cs typeface="Times New Roman" panose="02020603050405020304" pitchFamily="18" charset="0"/>
            </a:endParaRPr>
          </a:p>
        </p:txBody>
      </p:sp>
      <p:sp>
        <p:nvSpPr>
          <p:cNvPr id="10" name="Shape 8"/>
          <p:cNvSpPr/>
          <p:nvPr/>
        </p:nvSpPr>
        <p:spPr>
          <a:xfrm>
            <a:off x="2171700" y="1184148"/>
            <a:ext cx="1572768" cy="1234440"/>
          </a:xfrm>
          <a:prstGeom prst="rect">
            <a:avLst/>
          </a:prstGeom>
          <a:solidFill>
            <a:srgbClr val="0A4F67"/>
          </a:solidFill>
          <a:ln/>
          <a:effectLst>
            <a:outerShdw blurRad="101600" dist="38100" dir="8100000" algn="bl" rotWithShape="0">
              <a:srgbClr val="000000">
                <a:alpha val="25000"/>
              </a:srgbClr>
            </a:outerShdw>
          </a:effectLst>
        </p:spPr>
        <p:txBody>
          <a:bodyPr/>
          <a:lstStyle/>
          <a:p>
            <a:endParaRPr lang="en-CH">
              <a:latin typeface="Times New Roman" panose="02020603050405020304" pitchFamily="18" charset="0"/>
              <a:cs typeface="Times New Roman" panose="02020603050405020304" pitchFamily="18" charset="0"/>
            </a:endParaRPr>
          </a:p>
        </p:txBody>
      </p:sp>
      <p:sp>
        <p:nvSpPr>
          <p:cNvPr id="12" name="Text 10"/>
          <p:cNvSpPr/>
          <p:nvPr/>
        </p:nvSpPr>
        <p:spPr>
          <a:xfrm>
            <a:off x="2199132" y="1280160"/>
            <a:ext cx="1435608" cy="475488"/>
          </a:xfrm>
          <a:prstGeom prst="rect">
            <a:avLst/>
          </a:prstGeom>
          <a:noFill/>
          <a:ln/>
        </p:spPr>
        <p:txBody>
          <a:bodyPr wrap="square" lIns="0" tIns="0" rIns="0" bIns="0" rtlCol="0" anchor="ctr"/>
          <a:lstStyle/>
          <a:p>
            <a:pPr marL="0" indent="0" algn="ctr">
              <a:buNone/>
            </a:pPr>
            <a:r>
              <a:rPr lang="en-US" sz="2800" b="1" dirty="0">
                <a:solidFill>
                  <a:srgbClr val="22D3EE"/>
                </a:solidFill>
                <a:latin typeface="Times New Roman" panose="02020603050405020304" pitchFamily="18" charset="0"/>
                <a:ea typeface="Calibri" pitchFamily="34" charset="-122"/>
                <a:cs typeface="Times New Roman" panose="02020603050405020304" pitchFamily="18" charset="0"/>
              </a:rPr>
              <a:t>4.0/5</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2171700" y="1746504"/>
            <a:ext cx="1463040" cy="402336"/>
          </a:xfrm>
          <a:prstGeom prst="rect">
            <a:avLst/>
          </a:prstGeom>
          <a:noFill/>
          <a:ln/>
        </p:spPr>
        <p:txBody>
          <a:bodyPr wrap="square" lIns="0" tIns="0" rIns="0" bIns="0" rtlCol="0" anchor="ctr"/>
          <a:lstStyle/>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Slider Feature</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Usefulness</a:t>
            </a:r>
            <a:endParaRPr lang="en-US" sz="1050" dirty="0">
              <a:latin typeface="Times New Roman" panose="02020603050405020304" pitchFamily="18" charset="0"/>
              <a:cs typeface="Times New Roman" panose="02020603050405020304" pitchFamily="18" charset="0"/>
            </a:endParaRPr>
          </a:p>
        </p:txBody>
      </p:sp>
      <p:sp>
        <p:nvSpPr>
          <p:cNvPr id="14" name="Text 12"/>
          <p:cNvSpPr/>
          <p:nvPr/>
        </p:nvSpPr>
        <p:spPr>
          <a:xfrm>
            <a:off x="2171700" y="2148840"/>
            <a:ext cx="1463040" cy="201168"/>
          </a:xfrm>
          <a:prstGeom prst="rect">
            <a:avLst/>
          </a:prstGeom>
          <a:noFill/>
          <a:ln/>
        </p:spPr>
        <p:txBody>
          <a:bodyPr wrap="square" lIns="0" tIns="0" rIns="0" bIns="0" rtlCol="0" anchor="ctr"/>
          <a:lstStyle/>
          <a:p>
            <a:pPr marL="0" indent="0" algn="ctr">
              <a:buNone/>
            </a:pPr>
            <a:r>
              <a:rPr lang="en-US" sz="900" i="1" dirty="0">
                <a:solidFill>
                  <a:srgbClr val="84CC16"/>
                </a:solidFill>
                <a:latin typeface="Times New Roman" panose="02020603050405020304" pitchFamily="18" charset="0"/>
                <a:ea typeface="Calibri" pitchFamily="34" charset="-122"/>
                <a:cs typeface="Times New Roman" panose="02020603050405020304" pitchFamily="18" charset="0"/>
              </a:rPr>
              <a:t>Priority Engine</a:t>
            </a:r>
            <a:endParaRPr lang="en-US" sz="900" dirty="0">
              <a:latin typeface="Times New Roman" panose="02020603050405020304" pitchFamily="18" charset="0"/>
              <a:cs typeface="Times New Roman" panose="02020603050405020304" pitchFamily="18" charset="0"/>
            </a:endParaRPr>
          </a:p>
        </p:txBody>
      </p:sp>
      <p:sp>
        <p:nvSpPr>
          <p:cNvPr id="15" name="Shape 13"/>
          <p:cNvSpPr/>
          <p:nvPr/>
        </p:nvSpPr>
        <p:spPr>
          <a:xfrm>
            <a:off x="3803904" y="1170432"/>
            <a:ext cx="1572768" cy="1234440"/>
          </a:xfrm>
          <a:prstGeom prst="rect">
            <a:avLst/>
          </a:prstGeom>
          <a:solidFill>
            <a:srgbClr val="0A4F67"/>
          </a:solidFill>
          <a:ln/>
          <a:effectLst>
            <a:outerShdw blurRad="101600" dist="38100" dir="8100000" algn="bl" rotWithShape="0">
              <a:srgbClr val="000000">
                <a:alpha val="25000"/>
              </a:srgbClr>
            </a:outerShdw>
          </a:effectLst>
        </p:spPr>
        <p:txBody>
          <a:bodyPr/>
          <a:lstStyle/>
          <a:p>
            <a:endParaRPr lang="en-CH">
              <a:latin typeface="Times New Roman" panose="02020603050405020304" pitchFamily="18" charset="0"/>
              <a:cs typeface="Times New Roman" panose="02020603050405020304" pitchFamily="18" charset="0"/>
            </a:endParaRPr>
          </a:p>
        </p:txBody>
      </p:sp>
      <p:sp>
        <p:nvSpPr>
          <p:cNvPr id="17" name="Text 15"/>
          <p:cNvSpPr/>
          <p:nvPr/>
        </p:nvSpPr>
        <p:spPr>
          <a:xfrm>
            <a:off x="3895344" y="1280160"/>
            <a:ext cx="1435608" cy="475488"/>
          </a:xfrm>
          <a:prstGeom prst="rect">
            <a:avLst/>
          </a:prstGeom>
          <a:noFill/>
          <a:ln/>
        </p:spPr>
        <p:txBody>
          <a:bodyPr wrap="square" lIns="0" tIns="0" rIns="0" bIns="0" rtlCol="0" anchor="ctr"/>
          <a:lstStyle/>
          <a:p>
            <a:pPr marL="0" indent="0" algn="ctr">
              <a:buNone/>
            </a:pPr>
            <a:r>
              <a:rPr lang="en-US" sz="2800" b="1" dirty="0">
                <a:solidFill>
                  <a:srgbClr val="22D3EE"/>
                </a:solidFill>
                <a:latin typeface="Times New Roman" panose="02020603050405020304" pitchFamily="18" charset="0"/>
                <a:ea typeface="Calibri" pitchFamily="34" charset="-122"/>
                <a:cs typeface="Times New Roman" panose="02020603050405020304" pitchFamily="18" charset="0"/>
              </a:rPr>
              <a:t>77%</a:t>
            </a:r>
            <a:endParaRPr lang="en-US" sz="2800" dirty="0">
              <a:latin typeface="Times New Roman" panose="02020603050405020304" pitchFamily="18" charset="0"/>
              <a:cs typeface="Times New Roman" panose="02020603050405020304" pitchFamily="18" charset="0"/>
            </a:endParaRPr>
          </a:p>
        </p:txBody>
      </p:sp>
      <p:sp>
        <p:nvSpPr>
          <p:cNvPr id="18" name="Text 16"/>
          <p:cNvSpPr/>
          <p:nvPr/>
        </p:nvSpPr>
        <p:spPr>
          <a:xfrm>
            <a:off x="3867912" y="1746504"/>
            <a:ext cx="1463040" cy="402336"/>
          </a:xfrm>
          <a:prstGeom prst="rect">
            <a:avLst/>
          </a:prstGeom>
          <a:noFill/>
          <a:ln/>
        </p:spPr>
        <p:txBody>
          <a:bodyPr wrap="square" lIns="0" tIns="0" rIns="0" bIns="0" rtlCol="0" anchor="ctr"/>
          <a:lstStyle/>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Would Trust</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Recommendations</a:t>
            </a:r>
            <a:endParaRPr lang="en-US" sz="1050" dirty="0">
              <a:latin typeface="Times New Roman" panose="02020603050405020304" pitchFamily="18" charset="0"/>
              <a:cs typeface="Times New Roman" panose="02020603050405020304" pitchFamily="18" charset="0"/>
            </a:endParaRPr>
          </a:p>
        </p:txBody>
      </p:sp>
      <p:sp>
        <p:nvSpPr>
          <p:cNvPr id="19" name="Text 17"/>
          <p:cNvSpPr/>
          <p:nvPr/>
        </p:nvSpPr>
        <p:spPr>
          <a:xfrm>
            <a:off x="3867912" y="2148840"/>
            <a:ext cx="1463040" cy="201168"/>
          </a:xfrm>
          <a:prstGeom prst="rect">
            <a:avLst/>
          </a:prstGeom>
          <a:noFill/>
          <a:ln/>
        </p:spPr>
        <p:txBody>
          <a:bodyPr wrap="square" lIns="0" tIns="0" rIns="0" bIns="0" rtlCol="0" anchor="ctr"/>
          <a:lstStyle/>
          <a:p>
            <a:pPr marL="0" indent="0" algn="ctr">
              <a:buNone/>
            </a:pPr>
            <a:r>
              <a:rPr lang="en-US" sz="900" i="1" dirty="0">
                <a:solidFill>
                  <a:srgbClr val="84CC16"/>
                </a:solidFill>
                <a:latin typeface="Times New Roman" panose="02020603050405020304" pitchFamily="18" charset="0"/>
                <a:ea typeface="Calibri" pitchFamily="34" charset="-122"/>
                <a:cs typeface="Times New Roman" panose="02020603050405020304" pitchFamily="18" charset="0"/>
              </a:rPr>
              <a:t>Users likely / yes</a:t>
            </a:r>
            <a:endParaRPr lang="en-US" sz="900" dirty="0">
              <a:latin typeface="Times New Roman" panose="02020603050405020304" pitchFamily="18" charset="0"/>
              <a:cs typeface="Times New Roman" panose="02020603050405020304" pitchFamily="18" charset="0"/>
            </a:endParaRPr>
          </a:p>
        </p:txBody>
      </p:sp>
      <p:sp>
        <p:nvSpPr>
          <p:cNvPr id="20" name="Shape 18"/>
          <p:cNvSpPr/>
          <p:nvPr/>
        </p:nvSpPr>
        <p:spPr>
          <a:xfrm>
            <a:off x="5500116" y="1170432"/>
            <a:ext cx="1572768" cy="1234440"/>
          </a:xfrm>
          <a:prstGeom prst="rect">
            <a:avLst/>
          </a:prstGeom>
          <a:solidFill>
            <a:srgbClr val="0A4F67"/>
          </a:solidFill>
          <a:ln/>
          <a:effectLst>
            <a:outerShdw blurRad="101600" dist="38100" dir="8100000" algn="bl" rotWithShape="0">
              <a:srgbClr val="000000">
                <a:alpha val="25000"/>
              </a:srgbClr>
            </a:outerShdw>
          </a:effectLst>
        </p:spPr>
        <p:txBody>
          <a:bodyPr/>
          <a:lstStyle/>
          <a:p>
            <a:endParaRPr lang="en-CH">
              <a:latin typeface="Times New Roman" panose="02020603050405020304" pitchFamily="18" charset="0"/>
              <a:cs typeface="Times New Roman" panose="02020603050405020304" pitchFamily="18" charset="0"/>
            </a:endParaRPr>
          </a:p>
        </p:txBody>
      </p:sp>
      <p:sp>
        <p:nvSpPr>
          <p:cNvPr id="22" name="Text 20"/>
          <p:cNvSpPr/>
          <p:nvPr/>
        </p:nvSpPr>
        <p:spPr>
          <a:xfrm>
            <a:off x="5591556" y="1280160"/>
            <a:ext cx="1435608" cy="475488"/>
          </a:xfrm>
          <a:prstGeom prst="rect">
            <a:avLst/>
          </a:prstGeom>
          <a:noFill/>
          <a:ln/>
        </p:spPr>
        <p:txBody>
          <a:bodyPr wrap="square" lIns="0" tIns="0" rIns="0" bIns="0" rtlCol="0" anchor="ctr"/>
          <a:lstStyle/>
          <a:p>
            <a:pPr marL="0" indent="0" algn="ctr">
              <a:buNone/>
            </a:pPr>
            <a:r>
              <a:rPr lang="en-US" sz="2800" b="1" dirty="0">
                <a:solidFill>
                  <a:srgbClr val="22D3EE"/>
                </a:solidFill>
                <a:latin typeface="Times New Roman" panose="02020603050405020304" pitchFamily="18" charset="0"/>
                <a:ea typeface="Calibri" pitchFamily="34" charset="-122"/>
                <a:cs typeface="Times New Roman" panose="02020603050405020304" pitchFamily="18" charset="0"/>
              </a:rPr>
              <a:t>69%</a:t>
            </a:r>
            <a:endParaRPr lang="en-US" sz="2800" dirty="0">
              <a:latin typeface="Times New Roman" panose="02020603050405020304" pitchFamily="18" charset="0"/>
              <a:cs typeface="Times New Roman" panose="02020603050405020304" pitchFamily="18" charset="0"/>
            </a:endParaRPr>
          </a:p>
        </p:txBody>
      </p:sp>
      <p:sp>
        <p:nvSpPr>
          <p:cNvPr id="23" name="Text 21"/>
          <p:cNvSpPr/>
          <p:nvPr/>
        </p:nvSpPr>
        <p:spPr>
          <a:xfrm>
            <a:off x="5564124" y="1746504"/>
            <a:ext cx="1463040" cy="402336"/>
          </a:xfrm>
          <a:prstGeom prst="rect">
            <a:avLst/>
          </a:prstGeom>
          <a:noFill/>
          <a:ln/>
        </p:spPr>
        <p:txBody>
          <a:bodyPr wrap="square" lIns="0" tIns="0" rIns="0" bIns="0" rtlCol="0" anchor="ctr"/>
          <a:lstStyle/>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Vs. Google Maps</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TripAdvisor etc.</a:t>
            </a:r>
            <a:endParaRPr lang="en-US" sz="1050" dirty="0">
              <a:latin typeface="Times New Roman" panose="02020603050405020304" pitchFamily="18" charset="0"/>
              <a:cs typeface="Times New Roman" panose="02020603050405020304" pitchFamily="18" charset="0"/>
            </a:endParaRPr>
          </a:p>
        </p:txBody>
      </p:sp>
      <p:sp>
        <p:nvSpPr>
          <p:cNvPr id="24" name="Text 22"/>
          <p:cNvSpPr/>
          <p:nvPr/>
        </p:nvSpPr>
        <p:spPr>
          <a:xfrm>
            <a:off x="5564124" y="2148840"/>
            <a:ext cx="1463040" cy="201168"/>
          </a:xfrm>
          <a:prstGeom prst="rect">
            <a:avLst/>
          </a:prstGeom>
          <a:noFill/>
          <a:ln/>
        </p:spPr>
        <p:txBody>
          <a:bodyPr wrap="square" lIns="0" tIns="0" rIns="0" bIns="0" rtlCol="0" anchor="ctr"/>
          <a:lstStyle/>
          <a:p>
            <a:pPr marL="0" indent="0" algn="ctr">
              <a:buNone/>
            </a:pPr>
            <a:r>
              <a:rPr lang="en-US" sz="900" i="1" dirty="0">
                <a:solidFill>
                  <a:srgbClr val="84CC16"/>
                </a:solidFill>
                <a:latin typeface="Times New Roman" panose="02020603050405020304" pitchFamily="18" charset="0"/>
                <a:ea typeface="Calibri" pitchFamily="34" charset="-122"/>
                <a:cs typeface="Times New Roman" panose="02020603050405020304" pitchFamily="18" charset="0"/>
              </a:rPr>
              <a:t>Rated Better/Much Better</a:t>
            </a:r>
            <a:endParaRPr lang="en-US" sz="900" dirty="0">
              <a:latin typeface="Times New Roman" panose="02020603050405020304" pitchFamily="18" charset="0"/>
              <a:cs typeface="Times New Roman" panose="02020603050405020304" pitchFamily="18" charset="0"/>
            </a:endParaRPr>
          </a:p>
        </p:txBody>
      </p:sp>
      <p:sp>
        <p:nvSpPr>
          <p:cNvPr id="25" name="Shape 23"/>
          <p:cNvSpPr/>
          <p:nvPr/>
        </p:nvSpPr>
        <p:spPr>
          <a:xfrm>
            <a:off x="7196328" y="1170432"/>
            <a:ext cx="1572768" cy="1234440"/>
          </a:xfrm>
          <a:prstGeom prst="rect">
            <a:avLst/>
          </a:prstGeom>
          <a:solidFill>
            <a:srgbClr val="0A4F67"/>
          </a:solidFill>
          <a:ln/>
          <a:effectLst>
            <a:outerShdw blurRad="101600" dist="38100" dir="8100000" algn="bl" rotWithShape="0">
              <a:srgbClr val="000000">
                <a:alpha val="25000"/>
              </a:srgbClr>
            </a:outerShdw>
          </a:effectLst>
        </p:spPr>
        <p:txBody>
          <a:bodyPr/>
          <a:lstStyle/>
          <a:p>
            <a:endParaRPr lang="en-CH">
              <a:latin typeface="Times New Roman" panose="02020603050405020304" pitchFamily="18" charset="0"/>
              <a:cs typeface="Times New Roman" panose="02020603050405020304" pitchFamily="18" charset="0"/>
            </a:endParaRPr>
          </a:p>
        </p:txBody>
      </p:sp>
      <p:sp>
        <p:nvSpPr>
          <p:cNvPr id="27" name="Text 25"/>
          <p:cNvSpPr/>
          <p:nvPr/>
        </p:nvSpPr>
        <p:spPr>
          <a:xfrm>
            <a:off x="7287768" y="1280160"/>
            <a:ext cx="1435608" cy="475488"/>
          </a:xfrm>
          <a:prstGeom prst="rect">
            <a:avLst/>
          </a:prstGeom>
          <a:noFill/>
          <a:ln/>
        </p:spPr>
        <p:txBody>
          <a:bodyPr wrap="square" lIns="0" tIns="0" rIns="0" bIns="0" rtlCol="0" anchor="ctr"/>
          <a:lstStyle/>
          <a:p>
            <a:pPr marL="0" indent="0" algn="ctr">
              <a:buNone/>
            </a:pPr>
            <a:r>
              <a:rPr lang="en-US" sz="2800" b="1" dirty="0">
                <a:solidFill>
                  <a:srgbClr val="22D3EE"/>
                </a:solidFill>
                <a:latin typeface="Times New Roman" panose="02020603050405020304" pitchFamily="18" charset="0"/>
                <a:ea typeface="Calibri" pitchFamily="34" charset="-122"/>
                <a:cs typeface="Times New Roman" panose="02020603050405020304" pitchFamily="18" charset="0"/>
              </a:rPr>
              <a:t>4.2/5</a:t>
            </a:r>
            <a:endParaRPr lang="en-US" sz="2800" dirty="0">
              <a:latin typeface="Times New Roman" panose="02020603050405020304" pitchFamily="18" charset="0"/>
              <a:cs typeface="Times New Roman" panose="02020603050405020304" pitchFamily="18" charset="0"/>
            </a:endParaRPr>
          </a:p>
        </p:txBody>
      </p:sp>
      <p:sp>
        <p:nvSpPr>
          <p:cNvPr id="28" name="Text 26"/>
          <p:cNvSpPr/>
          <p:nvPr/>
        </p:nvSpPr>
        <p:spPr>
          <a:xfrm>
            <a:off x="7260336" y="1746504"/>
            <a:ext cx="1463040" cy="402336"/>
          </a:xfrm>
          <a:prstGeom prst="rect">
            <a:avLst/>
          </a:prstGeom>
          <a:noFill/>
          <a:ln/>
        </p:spPr>
        <p:txBody>
          <a:bodyPr wrap="square" lIns="0" tIns="0" rIns="0" bIns="0" rtlCol="0" anchor="ctr"/>
          <a:lstStyle/>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Transparency</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dirty="0">
                <a:solidFill>
                  <a:srgbClr val="E8F4F8"/>
                </a:solidFill>
                <a:latin typeface="Times New Roman" panose="02020603050405020304" pitchFamily="18" charset="0"/>
                <a:ea typeface="Calibri" pitchFamily="34" charset="-122"/>
                <a:cs typeface="Times New Roman" panose="02020603050405020304" pitchFamily="18" charset="0"/>
              </a:rPr>
              <a:t>Importance</a:t>
            </a:r>
            <a:endParaRPr lang="en-US" sz="1050" dirty="0">
              <a:latin typeface="Times New Roman" panose="02020603050405020304" pitchFamily="18" charset="0"/>
              <a:cs typeface="Times New Roman" panose="02020603050405020304" pitchFamily="18" charset="0"/>
            </a:endParaRPr>
          </a:p>
        </p:txBody>
      </p:sp>
      <p:sp>
        <p:nvSpPr>
          <p:cNvPr id="29" name="Text 27"/>
          <p:cNvSpPr/>
          <p:nvPr/>
        </p:nvSpPr>
        <p:spPr>
          <a:xfrm>
            <a:off x="7260336" y="2148840"/>
            <a:ext cx="1463040" cy="201168"/>
          </a:xfrm>
          <a:prstGeom prst="rect">
            <a:avLst/>
          </a:prstGeom>
          <a:noFill/>
          <a:ln/>
        </p:spPr>
        <p:txBody>
          <a:bodyPr wrap="square" lIns="0" tIns="0" rIns="0" bIns="0" rtlCol="0" anchor="ctr"/>
          <a:lstStyle/>
          <a:p>
            <a:pPr marL="0" indent="0" algn="ctr">
              <a:buNone/>
            </a:pPr>
            <a:r>
              <a:rPr lang="en-US" sz="900" i="1" dirty="0">
                <a:solidFill>
                  <a:srgbClr val="84CC16"/>
                </a:solidFill>
                <a:latin typeface="Times New Roman" panose="02020603050405020304" pitchFamily="18" charset="0"/>
                <a:ea typeface="Calibri" pitchFamily="34" charset="-122"/>
                <a:cs typeface="Times New Roman" panose="02020603050405020304" pitchFamily="18" charset="0"/>
              </a:rPr>
              <a:t>Deep Insights</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411480" y="2578608"/>
            <a:ext cx="4114800" cy="292608"/>
          </a:xfrm>
          <a:prstGeom prst="rect">
            <a:avLst/>
          </a:prstGeom>
          <a:noFill/>
          <a:ln/>
        </p:spPr>
        <p:txBody>
          <a:bodyPr wrap="square" lIns="0" tIns="0" rIns="0" bIns="0" rtlCol="0" anchor="ctr"/>
          <a:lstStyle/>
          <a:p>
            <a:pPr marL="0" indent="0">
              <a:buNone/>
            </a:pPr>
            <a:r>
              <a:rPr lang="en-US" sz="1400" b="1" dirty="0">
                <a:solidFill>
                  <a:srgbClr val="84CC16"/>
                </a:solidFill>
                <a:latin typeface="Times New Roman" panose="02020603050405020304" pitchFamily="18" charset="0"/>
                <a:ea typeface="Calibri" pitchFamily="34" charset="-122"/>
                <a:cs typeface="Times New Roman" panose="02020603050405020304" pitchFamily="18" charset="0"/>
              </a:rPr>
              <a:t>Recommendation Quality</a:t>
            </a:r>
            <a:endParaRPr lang="en-US" sz="1400" dirty="0">
              <a:latin typeface="Times New Roman" panose="02020603050405020304" pitchFamily="18" charset="0"/>
              <a:cs typeface="Times New Roman" panose="02020603050405020304" pitchFamily="18" charset="0"/>
            </a:endParaRPr>
          </a:p>
        </p:txBody>
      </p:sp>
      <p:sp>
        <p:nvSpPr>
          <p:cNvPr id="31" name="Shape 29"/>
          <p:cNvSpPr/>
          <p:nvPr/>
        </p:nvSpPr>
        <p:spPr>
          <a:xfrm>
            <a:off x="411480" y="3108960"/>
            <a:ext cx="3657600" cy="182880"/>
          </a:xfrm>
          <a:prstGeom prst="rect">
            <a:avLst/>
          </a:prstGeom>
          <a:solidFill>
            <a:srgbClr val="0A3D52"/>
          </a:solidFill>
          <a:ln w="12700">
            <a:solidFill>
              <a:srgbClr val="0A3D52"/>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32" name="Shape 30"/>
          <p:cNvSpPr/>
          <p:nvPr/>
        </p:nvSpPr>
        <p:spPr>
          <a:xfrm>
            <a:off x="411480" y="3108960"/>
            <a:ext cx="1389888" cy="182880"/>
          </a:xfrm>
          <a:prstGeom prst="rect">
            <a:avLst/>
          </a:prstGeom>
          <a:solidFill>
            <a:srgbClr val="84CC16"/>
          </a:solidFill>
          <a:ln w="12700">
            <a:solidFill>
              <a:srgbClr val="84CC16"/>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33" name="Text 31"/>
          <p:cNvSpPr/>
          <p:nvPr/>
        </p:nvSpPr>
        <p:spPr>
          <a:xfrm>
            <a:off x="411480" y="2926080"/>
            <a:ext cx="3108960" cy="201168"/>
          </a:xfrm>
          <a:prstGeom prst="rect">
            <a:avLst/>
          </a:prstGeom>
          <a:noFill/>
          <a:ln/>
        </p:spPr>
        <p:txBody>
          <a:bodyPr wrap="square" lIns="0" tIns="0" rIns="0" bIns="0" rtlCol="0" anchor="ctr"/>
          <a:lstStyle/>
          <a:p>
            <a:pPr marL="0" indent="0">
              <a:buNone/>
            </a:pPr>
            <a:r>
              <a:rPr lang="en-US" sz="1100" dirty="0">
                <a:solidFill>
                  <a:srgbClr val="E8F4F8"/>
                </a:solidFill>
                <a:latin typeface="Times New Roman" panose="02020603050405020304" pitchFamily="18" charset="0"/>
                <a:ea typeface="Calibri" pitchFamily="34" charset="-122"/>
                <a:cs typeface="Times New Roman" panose="02020603050405020304" pitchFamily="18" charset="0"/>
              </a:rPr>
              <a:t>Would try all 3 recommendations</a:t>
            </a:r>
            <a:endParaRPr lang="en-US" sz="1100" dirty="0">
              <a:latin typeface="Times New Roman" panose="02020603050405020304" pitchFamily="18" charset="0"/>
              <a:cs typeface="Times New Roman" panose="02020603050405020304" pitchFamily="18" charset="0"/>
            </a:endParaRPr>
          </a:p>
        </p:txBody>
      </p:sp>
      <p:sp>
        <p:nvSpPr>
          <p:cNvPr id="34" name="Text 32"/>
          <p:cNvSpPr/>
          <p:nvPr/>
        </p:nvSpPr>
        <p:spPr>
          <a:xfrm>
            <a:off x="3566160" y="2926080"/>
            <a:ext cx="548640" cy="201168"/>
          </a:xfrm>
          <a:prstGeom prst="rect">
            <a:avLst/>
          </a:prstGeom>
          <a:noFill/>
          <a:ln/>
        </p:spPr>
        <p:txBody>
          <a:bodyPr wrap="square" lIns="0" tIns="0" rIns="0" bIns="0" rtlCol="0" anchor="ctr"/>
          <a:lstStyle/>
          <a:p>
            <a:pPr marL="0" indent="0">
              <a:buNone/>
            </a:pPr>
            <a:r>
              <a:rPr lang="en-US" sz="1100" b="1" dirty="0">
                <a:solidFill>
                  <a:srgbClr val="22D3EE"/>
                </a:solidFill>
                <a:latin typeface="Times New Roman" panose="02020603050405020304" pitchFamily="18" charset="0"/>
                <a:ea typeface="Calibri" pitchFamily="34" charset="-122"/>
                <a:cs typeface="Times New Roman" panose="02020603050405020304" pitchFamily="18" charset="0"/>
              </a:rPr>
              <a:t>38%</a:t>
            </a:r>
            <a:endParaRPr lang="en-US" sz="1100" dirty="0">
              <a:latin typeface="Times New Roman" panose="02020603050405020304" pitchFamily="18" charset="0"/>
              <a:cs typeface="Times New Roman" panose="02020603050405020304" pitchFamily="18" charset="0"/>
            </a:endParaRPr>
          </a:p>
        </p:txBody>
      </p:sp>
      <p:sp>
        <p:nvSpPr>
          <p:cNvPr id="35" name="Shape 33"/>
          <p:cNvSpPr/>
          <p:nvPr/>
        </p:nvSpPr>
        <p:spPr>
          <a:xfrm>
            <a:off x="411480" y="3584448"/>
            <a:ext cx="3657600" cy="182880"/>
          </a:xfrm>
          <a:prstGeom prst="rect">
            <a:avLst/>
          </a:prstGeom>
          <a:solidFill>
            <a:srgbClr val="0A3D52"/>
          </a:solidFill>
          <a:ln w="12700">
            <a:solidFill>
              <a:srgbClr val="0A3D52"/>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36" name="Shape 34"/>
          <p:cNvSpPr/>
          <p:nvPr/>
        </p:nvSpPr>
        <p:spPr>
          <a:xfrm>
            <a:off x="411480" y="3584448"/>
            <a:ext cx="1682496" cy="182880"/>
          </a:xfrm>
          <a:prstGeom prst="rect">
            <a:avLst/>
          </a:prstGeom>
          <a:solidFill>
            <a:srgbClr val="84CC16"/>
          </a:solidFill>
          <a:ln w="12700">
            <a:solidFill>
              <a:srgbClr val="84CC16"/>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37" name="Text 35"/>
          <p:cNvSpPr/>
          <p:nvPr/>
        </p:nvSpPr>
        <p:spPr>
          <a:xfrm>
            <a:off x="411480" y="3401568"/>
            <a:ext cx="3108960" cy="201168"/>
          </a:xfrm>
          <a:prstGeom prst="rect">
            <a:avLst/>
          </a:prstGeom>
          <a:noFill/>
          <a:ln/>
        </p:spPr>
        <p:txBody>
          <a:bodyPr wrap="square" lIns="0" tIns="0" rIns="0" bIns="0" rtlCol="0" anchor="ctr"/>
          <a:lstStyle/>
          <a:p>
            <a:pPr marL="0" indent="0">
              <a:buNone/>
            </a:pPr>
            <a:r>
              <a:rPr lang="en-US" sz="1100" dirty="0">
                <a:solidFill>
                  <a:srgbClr val="E8F4F8"/>
                </a:solidFill>
                <a:latin typeface="Times New Roman" panose="02020603050405020304" pitchFamily="18" charset="0"/>
                <a:ea typeface="Calibri" pitchFamily="34" charset="-122"/>
                <a:cs typeface="Times New Roman" panose="02020603050405020304" pitchFamily="18" charset="0"/>
              </a:rPr>
              <a:t>Would try 2 out of 3</a:t>
            </a:r>
            <a:endParaRPr lang="en-US" sz="1100" dirty="0">
              <a:latin typeface="Times New Roman" panose="02020603050405020304" pitchFamily="18" charset="0"/>
              <a:cs typeface="Times New Roman" panose="02020603050405020304" pitchFamily="18" charset="0"/>
            </a:endParaRPr>
          </a:p>
        </p:txBody>
      </p:sp>
      <p:sp>
        <p:nvSpPr>
          <p:cNvPr id="38" name="Text 36"/>
          <p:cNvSpPr/>
          <p:nvPr/>
        </p:nvSpPr>
        <p:spPr>
          <a:xfrm>
            <a:off x="3566160" y="3401568"/>
            <a:ext cx="548640" cy="201168"/>
          </a:xfrm>
          <a:prstGeom prst="rect">
            <a:avLst/>
          </a:prstGeom>
          <a:noFill/>
          <a:ln/>
        </p:spPr>
        <p:txBody>
          <a:bodyPr wrap="square" lIns="0" tIns="0" rIns="0" bIns="0" rtlCol="0" anchor="ctr"/>
          <a:lstStyle/>
          <a:p>
            <a:pPr marL="0" indent="0">
              <a:buNone/>
            </a:pPr>
            <a:r>
              <a:rPr lang="en-US" sz="1100" b="1" dirty="0">
                <a:solidFill>
                  <a:srgbClr val="22D3EE"/>
                </a:solidFill>
                <a:latin typeface="Times New Roman" panose="02020603050405020304" pitchFamily="18" charset="0"/>
                <a:ea typeface="Calibri" pitchFamily="34" charset="-122"/>
                <a:cs typeface="Times New Roman" panose="02020603050405020304" pitchFamily="18" charset="0"/>
              </a:rPr>
              <a:t>46%</a:t>
            </a:r>
            <a:endParaRPr lang="en-US" sz="1100" dirty="0">
              <a:latin typeface="Times New Roman" panose="02020603050405020304" pitchFamily="18" charset="0"/>
              <a:cs typeface="Times New Roman" panose="02020603050405020304" pitchFamily="18" charset="0"/>
            </a:endParaRPr>
          </a:p>
        </p:txBody>
      </p:sp>
      <p:sp>
        <p:nvSpPr>
          <p:cNvPr id="39" name="Shape 37"/>
          <p:cNvSpPr/>
          <p:nvPr/>
        </p:nvSpPr>
        <p:spPr>
          <a:xfrm>
            <a:off x="411480" y="4059936"/>
            <a:ext cx="3657600" cy="182880"/>
          </a:xfrm>
          <a:prstGeom prst="rect">
            <a:avLst/>
          </a:prstGeom>
          <a:solidFill>
            <a:srgbClr val="0A3D52"/>
          </a:solidFill>
          <a:ln w="12700">
            <a:solidFill>
              <a:srgbClr val="0A3D52"/>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40" name="Shape 38"/>
          <p:cNvSpPr/>
          <p:nvPr/>
        </p:nvSpPr>
        <p:spPr>
          <a:xfrm>
            <a:off x="411480" y="4059936"/>
            <a:ext cx="548640" cy="182880"/>
          </a:xfrm>
          <a:prstGeom prst="rect">
            <a:avLst/>
          </a:prstGeom>
          <a:solidFill>
            <a:srgbClr val="84CC16"/>
          </a:solidFill>
          <a:ln w="12700">
            <a:solidFill>
              <a:srgbClr val="84CC16"/>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41" name="Text 39"/>
          <p:cNvSpPr/>
          <p:nvPr/>
        </p:nvSpPr>
        <p:spPr>
          <a:xfrm>
            <a:off x="411480" y="3877056"/>
            <a:ext cx="3108960" cy="201168"/>
          </a:xfrm>
          <a:prstGeom prst="rect">
            <a:avLst/>
          </a:prstGeom>
          <a:noFill/>
          <a:ln/>
        </p:spPr>
        <p:txBody>
          <a:bodyPr wrap="square" lIns="0" tIns="0" rIns="0" bIns="0" rtlCol="0" anchor="ctr"/>
          <a:lstStyle/>
          <a:p>
            <a:pPr marL="0" indent="0">
              <a:buNone/>
            </a:pPr>
            <a:r>
              <a:rPr lang="en-US" sz="1100" dirty="0">
                <a:solidFill>
                  <a:srgbClr val="E8F4F8"/>
                </a:solidFill>
                <a:latin typeface="Times New Roman" panose="02020603050405020304" pitchFamily="18" charset="0"/>
                <a:ea typeface="Calibri" pitchFamily="34" charset="-122"/>
                <a:cs typeface="Times New Roman" panose="02020603050405020304" pitchFamily="18" charset="0"/>
              </a:rPr>
              <a:t>Would try 1 out of 3</a:t>
            </a:r>
            <a:endParaRPr lang="en-US" sz="1100" dirty="0">
              <a:latin typeface="Times New Roman" panose="02020603050405020304" pitchFamily="18" charset="0"/>
              <a:cs typeface="Times New Roman" panose="02020603050405020304" pitchFamily="18" charset="0"/>
            </a:endParaRPr>
          </a:p>
        </p:txBody>
      </p:sp>
      <p:sp>
        <p:nvSpPr>
          <p:cNvPr id="42" name="Text 40"/>
          <p:cNvSpPr/>
          <p:nvPr/>
        </p:nvSpPr>
        <p:spPr>
          <a:xfrm>
            <a:off x="3566160" y="3877056"/>
            <a:ext cx="548640" cy="201168"/>
          </a:xfrm>
          <a:prstGeom prst="rect">
            <a:avLst/>
          </a:prstGeom>
          <a:noFill/>
          <a:ln/>
        </p:spPr>
        <p:txBody>
          <a:bodyPr wrap="square" lIns="0" tIns="0" rIns="0" bIns="0" rtlCol="0" anchor="ctr"/>
          <a:lstStyle/>
          <a:p>
            <a:pPr marL="0" indent="0">
              <a:buNone/>
            </a:pPr>
            <a:r>
              <a:rPr lang="en-US" sz="1100" b="1" dirty="0">
                <a:solidFill>
                  <a:srgbClr val="22D3EE"/>
                </a:solidFill>
                <a:latin typeface="Times New Roman" panose="02020603050405020304" pitchFamily="18" charset="0"/>
                <a:ea typeface="Calibri" pitchFamily="34" charset="-122"/>
                <a:cs typeface="Times New Roman" panose="02020603050405020304" pitchFamily="18" charset="0"/>
              </a:rPr>
              <a:t>15%</a:t>
            </a:r>
            <a:endParaRPr lang="en-US" sz="1100" dirty="0">
              <a:latin typeface="Times New Roman" panose="02020603050405020304" pitchFamily="18" charset="0"/>
              <a:cs typeface="Times New Roman" panose="02020603050405020304" pitchFamily="18" charset="0"/>
            </a:endParaRPr>
          </a:p>
        </p:txBody>
      </p:sp>
      <p:sp>
        <p:nvSpPr>
          <p:cNvPr id="43" name="Text 41"/>
          <p:cNvSpPr/>
          <p:nvPr/>
        </p:nvSpPr>
        <p:spPr>
          <a:xfrm>
            <a:off x="4846320" y="2578608"/>
            <a:ext cx="4114800" cy="292608"/>
          </a:xfrm>
          <a:prstGeom prst="rect">
            <a:avLst/>
          </a:prstGeom>
          <a:noFill/>
          <a:ln/>
        </p:spPr>
        <p:txBody>
          <a:bodyPr wrap="square" lIns="0" tIns="0" rIns="0" bIns="0" rtlCol="0" anchor="ctr"/>
          <a:lstStyle/>
          <a:p>
            <a:pPr marL="0" indent="0">
              <a:buNone/>
            </a:pPr>
            <a:r>
              <a:rPr lang="en-US" sz="1400" b="1" dirty="0">
                <a:solidFill>
                  <a:srgbClr val="84CC16"/>
                </a:solidFill>
                <a:latin typeface="Times New Roman" panose="02020603050405020304" pitchFamily="18" charset="0"/>
                <a:ea typeface="Calibri" pitchFamily="34" charset="-122"/>
                <a:cs typeface="Times New Roman" panose="02020603050405020304" pitchFamily="18" charset="0"/>
              </a:rPr>
              <a:t>Ease of Use &amp; Engagement</a:t>
            </a:r>
            <a:endParaRPr lang="en-US" sz="1400" dirty="0">
              <a:latin typeface="Times New Roman" panose="02020603050405020304" pitchFamily="18" charset="0"/>
              <a:cs typeface="Times New Roman" panose="02020603050405020304" pitchFamily="18" charset="0"/>
            </a:endParaRPr>
          </a:p>
        </p:txBody>
      </p:sp>
      <p:sp>
        <p:nvSpPr>
          <p:cNvPr id="44" name="Shape 42"/>
          <p:cNvSpPr/>
          <p:nvPr/>
        </p:nvSpPr>
        <p:spPr>
          <a:xfrm>
            <a:off x="4846320" y="3108960"/>
            <a:ext cx="3840480" cy="182880"/>
          </a:xfrm>
          <a:prstGeom prst="rect">
            <a:avLst/>
          </a:prstGeom>
          <a:solidFill>
            <a:srgbClr val="0A3D52"/>
          </a:solidFill>
          <a:ln w="12700">
            <a:solidFill>
              <a:srgbClr val="0A3D52"/>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45" name="Shape 43"/>
          <p:cNvSpPr/>
          <p:nvPr/>
        </p:nvSpPr>
        <p:spPr>
          <a:xfrm>
            <a:off x="4846320" y="3108960"/>
            <a:ext cx="3264408" cy="182880"/>
          </a:xfrm>
          <a:prstGeom prst="rect">
            <a:avLst/>
          </a:prstGeom>
          <a:solidFill>
            <a:srgbClr val="22D3EE"/>
          </a:solidFill>
          <a:ln w="12700">
            <a:solidFill>
              <a:srgbClr val="22D3EE"/>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46" name="Text 44"/>
          <p:cNvSpPr/>
          <p:nvPr/>
        </p:nvSpPr>
        <p:spPr>
          <a:xfrm>
            <a:off x="4846320" y="2926080"/>
            <a:ext cx="3246120" cy="201168"/>
          </a:xfrm>
          <a:prstGeom prst="rect">
            <a:avLst/>
          </a:prstGeom>
          <a:noFill/>
          <a:ln/>
        </p:spPr>
        <p:txBody>
          <a:bodyPr wrap="square" lIns="0" tIns="0" rIns="0" bIns="0" rtlCol="0" anchor="ctr"/>
          <a:lstStyle/>
          <a:p>
            <a:pPr marL="0" indent="0">
              <a:buNone/>
            </a:pPr>
            <a:r>
              <a:rPr lang="en-US" sz="1100" dirty="0">
                <a:solidFill>
                  <a:srgbClr val="E8F4F8"/>
                </a:solidFill>
                <a:latin typeface="Times New Roman" panose="02020603050405020304" pitchFamily="18" charset="0"/>
                <a:ea typeface="Calibri" pitchFamily="34" charset="-122"/>
                <a:cs typeface="Times New Roman" panose="02020603050405020304" pitchFamily="18" charset="0"/>
              </a:rPr>
              <a:t>Found navigation Very Easy</a:t>
            </a:r>
            <a:endParaRPr lang="en-US" sz="1100" dirty="0">
              <a:latin typeface="Times New Roman" panose="02020603050405020304" pitchFamily="18" charset="0"/>
              <a:cs typeface="Times New Roman" panose="02020603050405020304" pitchFamily="18" charset="0"/>
            </a:endParaRPr>
          </a:p>
        </p:txBody>
      </p:sp>
      <p:sp>
        <p:nvSpPr>
          <p:cNvPr id="47" name="Text 45"/>
          <p:cNvSpPr/>
          <p:nvPr/>
        </p:nvSpPr>
        <p:spPr>
          <a:xfrm>
            <a:off x="8138160" y="2926080"/>
            <a:ext cx="594360" cy="201168"/>
          </a:xfrm>
          <a:prstGeom prst="rect">
            <a:avLst/>
          </a:prstGeom>
          <a:noFill/>
          <a:ln/>
        </p:spPr>
        <p:txBody>
          <a:bodyPr wrap="square" lIns="0" tIns="0" rIns="0" bIns="0" rtlCol="0" anchor="ctr"/>
          <a:lstStyle/>
          <a:p>
            <a:pPr marL="0" indent="0">
              <a:buNone/>
            </a:pPr>
            <a:r>
              <a:rPr lang="en-US" sz="1100" b="1" dirty="0">
                <a:solidFill>
                  <a:srgbClr val="22D3EE"/>
                </a:solidFill>
                <a:latin typeface="Times New Roman" panose="02020603050405020304" pitchFamily="18" charset="0"/>
                <a:ea typeface="Calibri" pitchFamily="34" charset="-122"/>
                <a:cs typeface="Times New Roman" panose="02020603050405020304" pitchFamily="18" charset="0"/>
              </a:rPr>
              <a:t>85%</a:t>
            </a:r>
            <a:endParaRPr lang="en-US" sz="1100" dirty="0">
              <a:latin typeface="Times New Roman" panose="02020603050405020304" pitchFamily="18" charset="0"/>
              <a:cs typeface="Times New Roman" panose="02020603050405020304" pitchFamily="18" charset="0"/>
            </a:endParaRPr>
          </a:p>
        </p:txBody>
      </p:sp>
      <p:sp>
        <p:nvSpPr>
          <p:cNvPr id="48" name="Shape 46"/>
          <p:cNvSpPr/>
          <p:nvPr/>
        </p:nvSpPr>
        <p:spPr>
          <a:xfrm>
            <a:off x="4846320" y="3584448"/>
            <a:ext cx="3840480" cy="182880"/>
          </a:xfrm>
          <a:prstGeom prst="rect">
            <a:avLst/>
          </a:prstGeom>
          <a:solidFill>
            <a:srgbClr val="0A3D52"/>
          </a:solidFill>
          <a:ln w="12700">
            <a:solidFill>
              <a:srgbClr val="0A3D52"/>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49" name="Shape 47"/>
          <p:cNvSpPr/>
          <p:nvPr/>
        </p:nvSpPr>
        <p:spPr>
          <a:xfrm>
            <a:off x="4846320" y="3584448"/>
            <a:ext cx="2957170" cy="182880"/>
          </a:xfrm>
          <a:prstGeom prst="rect">
            <a:avLst/>
          </a:prstGeom>
          <a:solidFill>
            <a:srgbClr val="22D3EE"/>
          </a:solidFill>
          <a:ln w="12700">
            <a:solidFill>
              <a:srgbClr val="22D3EE"/>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50" name="Text 48"/>
          <p:cNvSpPr/>
          <p:nvPr/>
        </p:nvSpPr>
        <p:spPr>
          <a:xfrm>
            <a:off x="4846320" y="3401568"/>
            <a:ext cx="3246120" cy="201168"/>
          </a:xfrm>
          <a:prstGeom prst="rect">
            <a:avLst/>
          </a:prstGeom>
          <a:noFill/>
          <a:ln/>
        </p:spPr>
        <p:txBody>
          <a:bodyPr wrap="square" lIns="0" tIns="0" rIns="0" bIns="0" rtlCol="0" anchor="ctr"/>
          <a:lstStyle/>
          <a:p>
            <a:pPr marL="0" indent="0">
              <a:buNone/>
            </a:pPr>
            <a:r>
              <a:rPr lang="en-US" sz="1100" dirty="0">
                <a:solidFill>
                  <a:srgbClr val="E8F4F8"/>
                </a:solidFill>
                <a:latin typeface="Times New Roman" panose="02020603050405020304" pitchFamily="18" charset="0"/>
                <a:ea typeface="Calibri" pitchFamily="34" charset="-122"/>
                <a:cs typeface="Times New Roman" panose="02020603050405020304" pitchFamily="18" charset="0"/>
              </a:rPr>
              <a:t>Actively adjusted sliders</a:t>
            </a:r>
            <a:endParaRPr lang="en-US" sz="1100" dirty="0">
              <a:latin typeface="Times New Roman" panose="02020603050405020304" pitchFamily="18" charset="0"/>
              <a:cs typeface="Times New Roman" panose="02020603050405020304" pitchFamily="18" charset="0"/>
            </a:endParaRPr>
          </a:p>
        </p:txBody>
      </p:sp>
      <p:sp>
        <p:nvSpPr>
          <p:cNvPr id="51" name="Text 49"/>
          <p:cNvSpPr/>
          <p:nvPr/>
        </p:nvSpPr>
        <p:spPr>
          <a:xfrm>
            <a:off x="8138160" y="3401568"/>
            <a:ext cx="594360" cy="201168"/>
          </a:xfrm>
          <a:prstGeom prst="rect">
            <a:avLst/>
          </a:prstGeom>
          <a:noFill/>
          <a:ln/>
        </p:spPr>
        <p:txBody>
          <a:bodyPr wrap="square" lIns="0" tIns="0" rIns="0" bIns="0" rtlCol="0" anchor="ctr"/>
          <a:lstStyle/>
          <a:p>
            <a:pPr marL="0" indent="0">
              <a:buNone/>
            </a:pPr>
            <a:r>
              <a:rPr lang="en-US" sz="1100" b="1" dirty="0">
                <a:solidFill>
                  <a:srgbClr val="22D3EE"/>
                </a:solidFill>
                <a:latin typeface="Times New Roman" panose="02020603050405020304" pitchFamily="18" charset="0"/>
                <a:ea typeface="Calibri" pitchFamily="34" charset="-122"/>
                <a:cs typeface="Times New Roman" panose="02020603050405020304" pitchFamily="18" charset="0"/>
              </a:rPr>
              <a:t>77%</a:t>
            </a:r>
            <a:endParaRPr lang="en-US" sz="1100" dirty="0">
              <a:latin typeface="Times New Roman" panose="02020603050405020304" pitchFamily="18" charset="0"/>
              <a:cs typeface="Times New Roman" panose="02020603050405020304" pitchFamily="18" charset="0"/>
            </a:endParaRPr>
          </a:p>
        </p:txBody>
      </p:sp>
      <p:sp>
        <p:nvSpPr>
          <p:cNvPr id="52" name="Shape 50"/>
          <p:cNvSpPr/>
          <p:nvPr/>
        </p:nvSpPr>
        <p:spPr>
          <a:xfrm>
            <a:off x="4846320" y="4059936"/>
            <a:ext cx="3840480" cy="182880"/>
          </a:xfrm>
          <a:prstGeom prst="rect">
            <a:avLst/>
          </a:prstGeom>
          <a:solidFill>
            <a:srgbClr val="0A3D52"/>
          </a:solidFill>
          <a:ln w="12700">
            <a:solidFill>
              <a:srgbClr val="0A3D52"/>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53" name="Shape 51"/>
          <p:cNvSpPr/>
          <p:nvPr/>
        </p:nvSpPr>
        <p:spPr>
          <a:xfrm>
            <a:off x="4846320" y="4059936"/>
            <a:ext cx="3840480" cy="182880"/>
          </a:xfrm>
          <a:prstGeom prst="rect">
            <a:avLst/>
          </a:prstGeom>
          <a:solidFill>
            <a:srgbClr val="22D3EE"/>
          </a:solidFill>
          <a:ln w="12700">
            <a:solidFill>
              <a:srgbClr val="22D3EE"/>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54" name="Text 52"/>
          <p:cNvSpPr/>
          <p:nvPr/>
        </p:nvSpPr>
        <p:spPr>
          <a:xfrm>
            <a:off x="4846320" y="3877056"/>
            <a:ext cx="3246120" cy="201168"/>
          </a:xfrm>
          <a:prstGeom prst="rect">
            <a:avLst/>
          </a:prstGeom>
          <a:noFill/>
          <a:ln/>
        </p:spPr>
        <p:txBody>
          <a:bodyPr wrap="square" lIns="0" tIns="0" rIns="0" bIns="0" rtlCol="0" anchor="ctr"/>
          <a:lstStyle/>
          <a:p>
            <a:pPr marL="0" indent="0">
              <a:buNone/>
            </a:pPr>
            <a:r>
              <a:rPr lang="en-US" sz="1100" dirty="0">
                <a:solidFill>
                  <a:srgbClr val="E8F4F8"/>
                </a:solidFill>
                <a:latin typeface="Times New Roman" panose="02020603050405020304" pitchFamily="18" charset="0"/>
                <a:ea typeface="Calibri" pitchFamily="34" charset="-122"/>
                <a:cs typeface="Times New Roman" panose="02020603050405020304" pitchFamily="18" charset="0"/>
              </a:rPr>
              <a:t>Clicked Deep Insights button</a:t>
            </a:r>
            <a:endParaRPr lang="en-US" sz="1100" dirty="0">
              <a:latin typeface="Times New Roman" panose="02020603050405020304" pitchFamily="18" charset="0"/>
              <a:cs typeface="Times New Roman" panose="02020603050405020304" pitchFamily="18" charset="0"/>
            </a:endParaRPr>
          </a:p>
        </p:txBody>
      </p:sp>
      <p:sp>
        <p:nvSpPr>
          <p:cNvPr id="55" name="Text 53"/>
          <p:cNvSpPr/>
          <p:nvPr/>
        </p:nvSpPr>
        <p:spPr>
          <a:xfrm>
            <a:off x="8138160" y="3877056"/>
            <a:ext cx="594360" cy="201168"/>
          </a:xfrm>
          <a:prstGeom prst="rect">
            <a:avLst/>
          </a:prstGeom>
          <a:noFill/>
          <a:ln/>
        </p:spPr>
        <p:txBody>
          <a:bodyPr wrap="square" lIns="0" tIns="0" rIns="0" bIns="0" rtlCol="0" anchor="ctr"/>
          <a:lstStyle/>
          <a:p>
            <a:pPr marL="0" indent="0">
              <a:buNone/>
            </a:pPr>
            <a:r>
              <a:rPr lang="en-US" sz="1100" b="1" dirty="0">
                <a:solidFill>
                  <a:srgbClr val="22D3EE"/>
                </a:solidFill>
                <a:latin typeface="Times New Roman" panose="02020603050405020304" pitchFamily="18" charset="0"/>
                <a:ea typeface="Calibri" pitchFamily="34" charset="-122"/>
                <a:cs typeface="Times New Roman" panose="02020603050405020304" pitchFamily="18" charset="0"/>
              </a:rPr>
              <a:t>100%</a:t>
            </a:r>
            <a:endParaRPr lang="en-US" sz="1100" dirty="0">
              <a:latin typeface="Times New Roman" panose="02020603050405020304" pitchFamily="18" charset="0"/>
              <a:cs typeface="Times New Roman" panose="02020603050405020304" pitchFamily="18" charset="0"/>
            </a:endParaRPr>
          </a:p>
        </p:txBody>
      </p:sp>
      <p:sp>
        <p:nvSpPr>
          <p:cNvPr id="56" name="Shape 54"/>
          <p:cNvSpPr/>
          <p:nvPr/>
        </p:nvSpPr>
        <p:spPr>
          <a:xfrm>
            <a:off x="4846320" y="4535424"/>
            <a:ext cx="3840480" cy="182880"/>
          </a:xfrm>
          <a:prstGeom prst="rect">
            <a:avLst/>
          </a:prstGeom>
          <a:solidFill>
            <a:srgbClr val="0A3D52"/>
          </a:solidFill>
          <a:ln w="12700">
            <a:solidFill>
              <a:srgbClr val="0A3D52"/>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57" name="Shape 55"/>
          <p:cNvSpPr/>
          <p:nvPr/>
        </p:nvSpPr>
        <p:spPr>
          <a:xfrm>
            <a:off x="4846320" y="4535424"/>
            <a:ext cx="2957170" cy="182880"/>
          </a:xfrm>
          <a:prstGeom prst="rect">
            <a:avLst/>
          </a:prstGeom>
          <a:solidFill>
            <a:srgbClr val="22D3EE"/>
          </a:solidFill>
          <a:ln w="12700">
            <a:solidFill>
              <a:srgbClr val="22D3EE"/>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58" name="Text 56"/>
          <p:cNvSpPr/>
          <p:nvPr/>
        </p:nvSpPr>
        <p:spPr>
          <a:xfrm>
            <a:off x="4846320" y="4352544"/>
            <a:ext cx="3246120" cy="201168"/>
          </a:xfrm>
          <a:prstGeom prst="rect">
            <a:avLst/>
          </a:prstGeom>
          <a:noFill/>
          <a:ln/>
        </p:spPr>
        <p:txBody>
          <a:bodyPr wrap="square" lIns="0" tIns="0" rIns="0" bIns="0" rtlCol="0" anchor="ctr"/>
          <a:lstStyle/>
          <a:p>
            <a:pPr marL="0" indent="0">
              <a:buNone/>
            </a:pPr>
            <a:r>
              <a:rPr lang="en-US" sz="1100" dirty="0">
                <a:solidFill>
                  <a:srgbClr val="E8F4F8"/>
                </a:solidFill>
                <a:latin typeface="Times New Roman" panose="02020603050405020304" pitchFamily="18" charset="0"/>
                <a:ea typeface="Calibri" pitchFamily="34" charset="-122"/>
                <a:cs typeface="Times New Roman" panose="02020603050405020304" pitchFamily="18" charset="0"/>
              </a:rPr>
              <a:t>Rated transparency important (4–5)</a:t>
            </a:r>
            <a:endParaRPr lang="en-US" sz="1100" dirty="0">
              <a:latin typeface="Times New Roman" panose="02020603050405020304" pitchFamily="18" charset="0"/>
              <a:cs typeface="Times New Roman" panose="02020603050405020304" pitchFamily="18" charset="0"/>
            </a:endParaRPr>
          </a:p>
        </p:txBody>
      </p:sp>
      <p:sp>
        <p:nvSpPr>
          <p:cNvPr id="59" name="Text 57"/>
          <p:cNvSpPr/>
          <p:nvPr/>
        </p:nvSpPr>
        <p:spPr>
          <a:xfrm>
            <a:off x="8138160" y="4352544"/>
            <a:ext cx="594360" cy="201168"/>
          </a:xfrm>
          <a:prstGeom prst="rect">
            <a:avLst/>
          </a:prstGeom>
          <a:noFill/>
          <a:ln/>
        </p:spPr>
        <p:txBody>
          <a:bodyPr wrap="square" lIns="0" tIns="0" rIns="0" bIns="0" rtlCol="0" anchor="ctr"/>
          <a:lstStyle/>
          <a:p>
            <a:pPr marL="0" indent="0">
              <a:buNone/>
            </a:pPr>
            <a:r>
              <a:rPr lang="en-US" sz="1100" b="1" dirty="0">
                <a:solidFill>
                  <a:srgbClr val="22D3EE"/>
                </a:solidFill>
                <a:latin typeface="Times New Roman" panose="02020603050405020304" pitchFamily="18" charset="0"/>
                <a:ea typeface="Calibri" pitchFamily="34" charset="-122"/>
                <a:cs typeface="Times New Roman" panose="02020603050405020304" pitchFamily="18" charset="0"/>
              </a:rPr>
              <a:t>77%</a:t>
            </a:r>
            <a:endParaRPr lang="en-US" sz="1100" dirty="0">
              <a:latin typeface="Times New Roman" panose="02020603050405020304" pitchFamily="18" charset="0"/>
              <a:cs typeface="Times New Roman" panose="02020603050405020304" pitchFamily="18" charset="0"/>
            </a:endParaRPr>
          </a:p>
        </p:txBody>
      </p:sp>
      <p:sp>
        <p:nvSpPr>
          <p:cNvPr id="60" name="Text 58"/>
          <p:cNvSpPr/>
          <p:nvPr/>
        </p:nvSpPr>
        <p:spPr>
          <a:xfrm>
            <a:off x="457200" y="4846320"/>
            <a:ext cx="8229600" cy="182880"/>
          </a:xfrm>
          <a:prstGeom prst="rect">
            <a:avLst/>
          </a:prstGeom>
          <a:noFill/>
          <a:ln/>
        </p:spPr>
        <p:txBody>
          <a:bodyPr wrap="square" lIns="0" tIns="0" rIns="0" bIns="0" rtlCol="0" anchor="ctr"/>
          <a:lstStyle/>
          <a:p>
            <a:pPr marL="0" indent="0" algn="r">
              <a:buNone/>
            </a:pPr>
            <a:r>
              <a:rPr lang="en-US" sz="900" i="1" dirty="0">
                <a:solidFill>
                  <a:srgbClr val="5A8FA3"/>
                </a:solidFill>
                <a:latin typeface="Times New Roman" panose="02020603050405020304" pitchFamily="18" charset="0"/>
                <a:ea typeface="Calibri" pitchFamily="34" charset="-122"/>
                <a:cs typeface="Times New Roman" panose="02020603050405020304" pitchFamily="18" charset="0"/>
              </a:rPr>
              <a:t>n = 13 respondents  |  Survey conducted 28 May 2026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0D5E7A"/>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anose="02020603050405020304" pitchFamily="18" charset="0"/>
                <a:ea typeface="Calibri" pitchFamily="34" charset="-122"/>
                <a:cs typeface="Times New Roman" panose="02020603050405020304" pitchFamily="18" charset="0"/>
              </a:rPr>
              <a:t>User Feedback &amp; Key Insights</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13232"/>
            <a:ext cx="2286000" cy="41148"/>
          </a:xfrm>
          <a:prstGeom prst="rect">
            <a:avLst/>
          </a:prstGeom>
          <a:solidFill>
            <a:srgbClr val="84CC16"/>
          </a:solidFill>
          <a:ln w="12700">
            <a:solidFill>
              <a:srgbClr val="84CC16"/>
            </a:solidFill>
            <a:prstDash val="solid"/>
          </a:ln>
        </p:spPr>
        <p:txBody>
          <a:bodyPr/>
          <a:lstStyle/>
          <a:p>
            <a:endParaRPr lang="en-CH">
              <a:latin typeface="Times New Roman" panose="02020603050405020304" pitchFamily="18" charset="0"/>
              <a:cs typeface="Times New Roman" panose="02020603050405020304" pitchFamily="18" charset="0"/>
            </a:endParaRPr>
          </a:p>
        </p:txBody>
      </p:sp>
      <p:sp>
        <p:nvSpPr>
          <p:cNvPr id="4" name="Text 2"/>
          <p:cNvSpPr/>
          <p:nvPr/>
        </p:nvSpPr>
        <p:spPr>
          <a:xfrm>
            <a:off x="457200" y="804672"/>
            <a:ext cx="8229600" cy="274320"/>
          </a:xfrm>
          <a:prstGeom prst="rect">
            <a:avLst/>
          </a:prstGeom>
          <a:noFill/>
          <a:ln/>
        </p:spPr>
        <p:txBody>
          <a:bodyPr wrap="square" lIns="0" tIns="0" rIns="0" bIns="0" rtlCol="0" anchor="ctr"/>
          <a:lstStyle/>
          <a:p>
            <a:pPr marL="0" indent="0">
              <a:buNone/>
            </a:pPr>
            <a:r>
              <a:rPr lang="en-US" sz="1200" i="1" dirty="0">
                <a:solidFill>
                  <a:srgbClr val="84CC16"/>
                </a:solidFill>
                <a:latin typeface="Times New Roman" panose="02020603050405020304" pitchFamily="18" charset="0"/>
                <a:ea typeface="Calibri" pitchFamily="34" charset="-122"/>
                <a:cs typeface="Times New Roman" panose="02020603050405020304" pitchFamily="18" charset="0"/>
              </a:rPr>
              <a:t>Open-ended responses from 13 users</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521208" y="1188720"/>
            <a:ext cx="3840480" cy="256032"/>
          </a:xfrm>
          <a:prstGeom prst="rect">
            <a:avLst/>
          </a:prstGeom>
          <a:noFill/>
          <a:ln/>
        </p:spPr>
        <p:txBody>
          <a:bodyPr wrap="square" lIns="0" tIns="0" rIns="0" bIns="0" rtlCol="0" anchor="ctr"/>
          <a:lstStyle/>
          <a:p>
            <a:pPr marL="0" indent="0">
              <a:buNone/>
            </a:pPr>
            <a:r>
              <a:rPr lang="en-US" sz="1300" b="1" dirty="0">
                <a:solidFill>
                  <a:srgbClr val="84CC16"/>
                </a:solidFill>
                <a:latin typeface="Times New Roman" panose="02020603050405020304" pitchFamily="18" charset="0"/>
                <a:ea typeface="Calibri" pitchFamily="34" charset="-122"/>
                <a:cs typeface="Times New Roman" panose="02020603050405020304" pitchFamily="18" charset="0"/>
              </a:rPr>
              <a:t>✔  What Users Liked</a:t>
            </a:r>
            <a:endParaRPr lang="en-US" sz="1300" dirty="0">
              <a:latin typeface="Times New Roman" panose="02020603050405020304" pitchFamily="18" charset="0"/>
              <a:cs typeface="Times New Roman" panose="02020603050405020304" pitchFamily="18" charset="0"/>
            </a:endParaRPr>
          </a:p>
        </p:txBody>
      </p:sp>
      <p:sp>
        <p:nvSpPr>
          <p:cNvPr id="7" name="Text 5"/>
          <p:cNvSpPr/>
          <p:nvPr/>
        </p:nvSpPr>
        <p:spPr>
          <a:xfrm>
            <a:off x="502920" y="1554480"/>
            <a:ext cx="3886200" cy="384048"/>
          </a:xfrm>
          <a:prstGeom prst="rect">
            <a:avLst/>
          </a:prstGeom>
          <a:noFill/>
          <a:ln/>
        </p:spPr>
        <p:txBody>
          <a:bodyPr wrap="square" lIns="0" tIns="0" rIns="0" bIns="0" rtlCol="0" anchor="ctr"/>
          <a:lstStyle/>
          <a:p>
            <a:pPr marL="0" indent="0">
              <a:buNone/>
            </a:pPr>
            <a:r>
              <a:rPr lang="en-US" sz="1150" b="1" dirty="0">
                <a:solidFill>
                  <a:srgbClr val="84CC16"/>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Fuzzy logic slider concept is innovative and practical</a:t>
            </a:r>
            <a:endParaRPr lang="en-US" sz="1150" dirty="0">
              <a:latin typeface="Times New Roman" panose="02020603050405020304" pitchFamily="18" charset="0"/>
              <a:cs typeface="Times New Roman" panose="02020603050405020304" pitchFamily="18" charset="0"/>
            </a:endParaRPr>
          </a:p>
        </p:txBody>
      </p:sp>
      <p:sp>
        <p:nvSpPr>
          <p:cNvPr id="8" name="Text 6"/>
          <p:cNvSpPr/>
          <p:nvPr/>
        </p:nvSpPr>
        <p:spPr>
          <a:xfrm>
            <a:off x="502920" y="1993392"/>
            <a:ext cx="3886200" cy="384048"/>
          </a:xfrm>
          <a:prstGeom prst="rect">
            <a:avLst/>
          </a:prstGeom>
          <a:noFill/>
          <a:ln/>
        </p:spPr>
        <p:txBody>
          <a:bodyPr wrap="square" lIns="0" tIns="0" rIns="0" bIns="0" rtlCol="0" anchor="ctr"/>
          <a:lstStyle/>
          <a:p>
            <a:pPr marL="0" indent="0">
              <a:buNone/>
            </a:pPr>
            <a:r>
              <a:rPr lang="en-US" sz="1150" b="1" dirty="0">
                <a:solidFill>
                  <a:srgbClr val="84CC16"/>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Deep Insights / transparency feature highly appreciated</a:t>
            </a:r>
            <a:endParaRPr lang="en-US" sz="1150" dirty="0">
              <a:latin typeface="Times New Roman" panose="02020603050405020304" pitchFamily="18" charset="0"/>
              <a:cs typeface="Times New Roman" panose="02020603050405020304" pitchFamily="18" charset="0"/>
            </a:endParaRPr>
          </a:p>
        </p:txBody>
      </p:sp>
      <p:sp>
        <p:nvSpPr>
          <p:cNvPr id="9" name="Text 7"/>
          <p:cNvSpPr/>
          <p:nvPr/>
        </p:nvSpPr>
        <p:spPr>
          <a:xfrm>
            <a:off x="502920" y="2432304"/>
            <a:ext cx="3886200" cy="384048"/>
          </a:xfrm>
          <a:prstGeom prst="rect">
            <a:avLst/>
          </a:prstGeom>
          <a:noFill/>
          <a:ln/>
        </p:spPr>
        <p:txBody>
          <a:bodyPr wrap="square" lIns="0" tIns="0" rIns="0" bIns="0" rtlCol="0" anchor="ctr"/>
          <a:lstStyle/>
          <a:p>
            <a:pPr marL="0" indent="0">
              <a:buNone/>
            </a:pPr>
            <a:r>
              <a:rPr lang="en-US" sz="1150" b="1" dirty="0">
                <a:solidFill>
                  <a:srgbClr val="84CC16"/>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Clean, intuitive UI — easy to navigate from homepage</a:t>
            </a:r>
            <a:endParaRPr lang="en-US" sz="1150" dirty="0">
              <a:latin typeface="Times New Roman" panose="02020603050405020304" pitchFamily="18" charset="0"/>
              <a:cs typeface="Times New Roman" panose="02020603050405020304" pitchFamily="18" charset="0"/>
            </a:endParaRPr>
          </a:p>
        </p:txBody>
      </p:sp>
      <p:sp>
        <p:nvSpPr>
          <p:cNvPr id="10" name="Text 8"/>
          <p:cNvSpPr/>
          <p:nvPr/>
        </p:nvSpPr>
        <p:spPr>
          <a:xfrm>
            <a:off x="502920" y="2871216"/>
            <a:ext cx="3886200" cy="384048"/>
          </a:xfrm>
          <a:prstGeom prst="rect">
            <a:avLst/>
          </a:prstGeom>
          <a:noFill/>
          <a:ln/>
        </p:spPr>
        <p:txBody>
          <a:bodyPr wrap="square" lIns="0" tIns="0" rIns="0" bIns="0" rtlCol="0" anchor="ctr"/>
          <a:lstStyle/>
          <a:p>
            <a:pPr marL="0" indent="0">
              <a:buNone/>
            </a:pPr>
            <a:r>
              <a:rPr lang="en-US" sz="1150" b="1" dirty="0">
                <a:solidFill>
                  <a:srgbClr val="84CC16"/>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One-stop platform replacing multiple travel apps</a:t>
            </a:r>
            <a:endParaRPr lang="en-US" sz="1150" dirty="0">
              <a:latin typeface="Times New Roman" panose="02020603050405020304" pitchFamily="18" charset="0"/>
              <a:cs typeface="Times New Roman" panose="02020603050405020304" pitchFamily="18" charset="0"/>
            </a:endParaRPr>
          </a:p>
        </p:txBody>
      </p:sp>
      <p:sp>
        <p:nvSpPr>
          <p:cNvPr id="11" name="Text 9"/>
          <p:cNvSpPr/>
          <p:nvPr/>
        </p:nvSpPr>
        <p:spPr>
          <a:xfrm>
            <a:off x="502920" y="3310128"/>
            <a:ext cx="3886200" cy="384048"/>
          </a:xfrm>
          <a:prstGeom prst="rect">
            <a:avLst/>
          </a:prstGeom>
          <a:noFill/>
          <a:ln/>
        </p:spPr>
        <p:txBody>
          <a:bodyPr wrap="square" lIns="0" tIns="0" rIns="0" bIns="0" rtlCol="0" anchor="ctr"/>
          <a:lstStyle/>
          <a:p>
            <a:pPr marL="0" indent="0">
              <a:buNone/>
            </a:pPr>
            <a:r>
              <a:rPr lang="en-US" sz="1150" b="1" dirty="0">
                <a:solidFill>
                  <a:srgbClr val="84CC16"/>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Real-time score updates when sliders are adjusted</a:t>
            </a:r>
            <a:endParaRPr lang="en-US" sz="1150" dirty="0">
              <a:latin typeface="Times New Roman" panose="02020603050405020304" pitchFamily="18" charset="0"/>
              <a:cs typeface="Times New Roman" panose="02020603050405020304" pitchFamily="18" charset="0"/>
            </a:endParaRPr>
          </a:p>
        </p:txBody>
      </p:sp>
      <p:sp>
        <p:nvSpPr>
          <p:cNvPr id="13" name="Text 11"/>
          <p:cNvSpPr/>
          <p:nvPr/>
        </p:nvSpPr>
        <p:spPr>
          <a:xfrm>
            <a:off x="4773168" y="1188720"/>
            <a:ext cx="3840480" cy="256032"/>
          </a:xfrm>
          <a:prstGeom prst="rect">
            <a:avLst/>
          </a:prstGeom>
          <a:noFill/>
          <a:ln/>
        </p:spPr>
        <p:txBody>
          <a:bodyPr wrap="square" lIns="0" tIns="0" rIns="0" bIns="0" rtlCol="0" anchor="ctr"/>
          <a:lstStyle/>
          <a:p>
            <a:pPr marL="0" indent="0">
              <a:buNone/>
            </a:pPr>
            <a:r>
              <a:rPr lang="en-US" sz="1300" b="1" dirty="0">
                <a:solidFill>
                  <a:srgbClr val="22D3EE"/>
                </a:solidFill>
                <a:latin typeface="Times New Roman" panose="02020603050405020304" pitchFamily="18" charset="0"/>
                <a:ea typeface="Calibri" pitchFamily="34" charset="-122"/>
                <a:cs typeface="Times New Roman" panose="02020603050405020304" pitchFamily="18" charset="0"/>
              </a:rPr>
              <a:t>⚑  Suggested Improvements</a:t>
            </a:r>
            <a:endParaRPr lang="en-US" sz="1300" dirty="0">
              <a:latin typeface="Times New Roman" panose="02020603050405020304" pitchFamily="18" charset="0"/>
              <a:cs typeface="Times New Roman" panose="02020603050405020304" pitchFamily="18" charset="0"/>
            </a:endParaRPr>
          </a:p>
        </p:txBody>
      </p:sp>
      <p:sp>
        <p:nvSpPr>
          <p:cNvPr id="14" name="Text 12"/>
          <p:cNvSpPr/>
          <p:nvPr/>
        </p:nvSpPr>
        <p:spPr>
          <a:xfrm>
            <a:off x="4754880" y="1554480"/>
            <a:ext cx="3886200" cy="384048"/>
          </a:xfrm>
          <a:prstGeom prst="rect">
            <a:avLst/>
          </a:prstGeom>
          <a:noFill/>
          <a:ln/>
        </p:spPr>
        <p:txBody>
          <a:bodyPr wrap="square" lIns="0" tIns="0" rIns="0" bIns="0" rtlCol="0" anchor="ctr"/>
          <a:lstStyle/>
          <a:p>
            <a:pPr marL="0" indent="0">
              <a:buNone/>
            </a:pPr>
            <a:r>
              <a:rPr lang="en-US" sz="1150" b="1" dirty="0">
                <a:solidFill>
                  <a:srgbClr val="22D3EE"/>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Add more cities beyond Bern (real-time data fetch)</a:t>
            </a:r>
            <a:endParaRPr lang="en-US" sz="1150" dirty="0">
              <a:latin typeface="Times New Roman" panose="02020603050405020304" pitchFamily="18" charset="0"/>
              <a:cs typeface="Times New Roman" panose="02020603050405020304" pitchFamily="18" charset="0"/>
            </a:endParaRPr>
          </a:p>
        </p:txBody>
      </p:sp>
      <p:sp>
        <p:nvSpPr>
          <p:cNvPr id="15" name="Text 13"/>
          <p:cNvSpPr/>
          <p:nvPr/>
        </p:nvSpPr>
        <p:spPr>
          <a:xfrm>
            <a:off x="4754880" y="1993392"/>
            <a:ext cx="3886200" cy="384048"/>
          </a:xfrm>
          <a:prstGeom prst="rect">
            <a:avLst/>
          </a:prstGeom>
          <a:noFill/>
          <a:ln/>
        </p:spPr>
        <p:txBody>
          <a:bodyPr wrap="square" lIns="0" tIns="0" rIns="0" bIns="0" rtlCol="0" anchor="ctr"/>
          <a:lstStyle/>
          <a:p>
            <a:pPr marL="0" indent="0">
              <a:buNone/>
            </a:pPr>
            <a:r>
              <a:rPr lang="en-US" sz="1150" b="1" dirty="0">
                <a:solidFill>
                  <a:srgbClr val="22D3EE"/>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Improve slider discoverability for new users</a:t>
            </a:r>
            <a:endParaRPr lang="en-US" sz="1150" dirty="0">
              <a:latin typeface="Times New Roman" panose="02020603050405020304" pitchFamily="18" charset="0"/>
              <a:cs typeface="Times New Roman" panose="02020603050405020304" pitchFamily="18" charset="0"/>
            </a:endParaRPr>
          </a:p>
        </p:txBody>
      </p:sp>
      <p:sp>
        <p:nvSpPr>
          <p:cNvPr id="16" name="Text 14"/>
          <p:cNvSpPr/>
          <p:nvPr/>
        </p:nvSpPr>
        <p:spPr>
          <a:xfrm>
            <a:off x="4754880" y="2432304"/>
            <a:ext cx="3886200" cy="384048"/>
          </a:xfrm>
          <a:prstGeom prst="rect">
            <a:avLst/>
          </a:prstGeom>
          <a:noFill/>
          <a:ln/>
        </p:spPr>
        <p:txBody>
          <a:bodyPr wrap="square" lIns="0" tIns="0" rIns="0" bIns="0" rtlCol="0" anchor="ctr"/>
          <a:lstStyle/>
          <a:p>
            <a:pPr marL="0" indent="0">
              <a:buNone/>
            </a:pPr>
            <a:r>
              <a:rPr lang="en-US" sz="1150" b="1" dirty="0">
                <a:solidFill>
                  <a:srgbClr val="22D3EE"/>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Include photo previews in recommendations</a:t>
            </a:r>
            <a:endParaRPr lang="en-US" sz="1150" dirty="0">
              <a:latin typeface="Times New Roman" panose="02020603050405020304" pitchFamily="18" charset="0"/>
              <a:cs typeface="Times New Roman" panose="02020603050405020304" pitchFamily="18" charset="0"/>
            </a:endParaRPr>
          </a:p>
        </p:txBody>
      </p:sp>
      <p:sp>
        <p:nvSpPr>
          <p:cNvPr id="17" name="Text 15"/>
          <p:cNvSpPr/>
          <p:nvPr/>
        </p:nvSpPr>
        <p:spPr>
          <a:xfrm>
            <a:off x="4754880" y="2871216"/>
            <a:ext cx="3886200" cy="384048"/>
          </a:xfrm>
          <a:prstGeom prst="rect">
            <a:avLst/>
          </a:prstGeom>
          <a:noFill/>
          <a:ln/>
        </p:spPr>
        <p:txBody>
          <a:bodyPr wrap="square" lIns="0" tIns="0" rIns="0" bIns="0" rtlCol="0" anchor="ctr"/>
          <a:lstStyle/>
          <a:p>
            <a:pPr marL="0" indent="0">
              <a:buNone/>
            </a:pPr>
            <a:r>
              <a:rPr lang="en-US" sz="1150" b="1" dirty="0">
                <a:solidFill>
                  <a:srgbClr val="22D3EE"/>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Better mobile responsiveness needed</a:t>
            </a:r>
            <a:endParaRPr lang="en-US" sz="1150" dirty="0">
              <a:latin typeface="Times New Roman" panose="02020603050405020304" pitchFamily="18" charset="0"/>
              <a:cs typeface="Times New Roman" panose="02020603050405020304" pitchFamily="18" charset="0"/>
            </a:endParaRPr>
          </a:p>
        </p:txBody>
      </p:sp>
      <p:sp>
        <p:nvSpPr>
          <p:cNvPr id="18" name="Text 16"/>
          <p:cNvSpPr/>
          <p:nvPr/>
        </p:nvSpPr>
        <p:spPr>
          <a:xfrm>
            <a:off x="4754880" y="3310128"/>
            <a:ext cx="3886200" cy="384048"/>
          </a:xfrm>
          <a:prstGeom prst="rect">
            <a:avLst/>
          </a:prstGeom>
          <a:noFill/>
          <a:ln/>
        </p:spPr>
        <p:txBody>
          <a:bodyPr wrap="square" lIns="0" tIns="0" rIns="0" bIns="0" rtlCol="0" anchor="ctr"/>
          <a:lstStyle/>
          <a:p>
            <a:pPr marL="0" indent="0">
              <a:buNone/>
            </a:pPr>
            <a:r>
              <a:rPr lang="en-US" sz="1150" b="1" dirty="0">
                <a:solidFill>
                  <a:srgbClr val="22D3EE"/>
                </a:solidFill>
                <a:latin typeface="Times New Roman" panose="02020603050405020304" pitchFamily="18" charset="0"/>
                <a:ea typeface="Calibri" pitchFamily="34" charset="-122"/>
                <a:cs typeface="Times New Roman" panose="02020603050405020304" pitchFamily="18" charset="0"/>
              </a:rPr>
              <a:t>›  </a:t>
            </a: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More filter options (cuisine type, opening hours)</a:t>
            </a:r>
            <a:endParaRPr lang="en-US" sz="1150" dirty="0">
              <a:latin typeface="Times New Roman" panose="02020603050405020304" pitchFamily="18" charset="0"/>
              <a:cs typeface="Times New Roman" panose="02020603050405020304" pitchFamily="18" charset="0"/>
            </a:endParaRPr>
          </a:p>
        </p:txBody>
      </p:sp>
      <p:sp>
        <p:nvSpPr>
          <p:cNvPr id="19" name="Shape 17"/>
          <p:cNvSpPr/>
          <p:nvPr/>
        </p:nvSpPr>
        <p:spPr>
          <a:xfrm>
            <a:off x="411480" y="3694176"/>
            <a:ext cx="8321040" cy="1143000"/>
          </a:xfrm>
          <a:prstGeom prst="rect">
            <a:avLst/>
          </a:prstGeom>
          <a:solidFill>
            <a:srgbClr val="072D3D"/>
          </a:solidFill>
          <a:ln/>
          <a:effectLst>
            <a:outerShdw blurRad="127000" dist="38100" dir="8100000" algn="bl" rotWithShape="0">
              <a:srgbClr val="000000">
                <a:alpha val="30000"/>
              </a:srgbClr>
            </a:outerShdw>
          </a:effectLst>
        </p:spPr>
        <p:txBody>
          <a:bodyPr/>
          <a:lstStyle/>
          <a:p>
            <a:endParaRPr lang="en-CH">
              <a:latin typeface="Times New Roman" panose="02020603050405020304" pitchFamily="18" charset="0"/>
              <a:cs typeface="Times New Roman" panose="02020603050405020304" pitchFamily="18" charset="0"/>
            </a:endParaRPr>
          </a:p>
        </p:txBody>
      </p:sp>
      <p:sp>
        <p:nvSpPr>
          <p:cNvPr id="21" name="Text 19"/>
          <p:cNvSpPr/>
          <p:nvPr/>
        </p:nvSpPr>
        <p:spPr>
          <a:xfrm>
            <a:off x="594360" y="3749040"/>
            <a:ext cx="2743200" cy="256032"/>
          </a:xfrm>
          <a:prstGeom prst="rect">
            <a:avLst/>
          </a:prstGeom>
          <a:noFill/>
          <a:ln/>
        </p:spPr>
        <p:txBody>
          <a:bodyPr wrap="square" lIns="0" tIns="0" rIns="0" bIns="0" rtlCol="0" anchor="ctr"/>
          <a:lstStyle/>
          <a:p>
            <a:pPr marL="0" indent="0">
              <a:buNone/>
            </a:pPr>
            <a:r>
              <a:rPr lang="en-US" sz="1300" b="1" dirty="0">
                <a:solidFill>
                  <a:srgbClr val="84CC16"/>
                </a:solidFill>
                <a:latin typeface="Times New Roman" panose="02020603050405020304" pitchFamily="18" charset="0"/>
                <a:ea typeface="Calibri" pitchFamily="34" charset="-122"/>
                <a:cs typeface="Times New Roman" panose="02020603050405020304" pitchFamily="18" charset="0"/>
              </a:rPr>
              <a:t>Overall Verdict</a:t>
            </a:r>
            <a:endParaRPr lang="en-US" sz="1300" dirty="0">
              <a:latin typeface="Times New Roman" panose="02020603050405020304" pitchFamily="18" charset="0"/>
              <a:cs typeface="Times New Roman" panose="02020603050405020304" pitchFamily="18" charset="0"/>
            </a:endParaRPr>
          </a:p>
        </p:txBody>
      </p:sp>
      <p:sp>
        <p:nvSpPr>
          <p:cNvPr id="22" name="Text 20"/>
          <p:cNvSpPr/>
          <p:nvPr/>
        </p:nvSpPr>
        <p:spPr>
          <a:xfrm>
            <a:off x="594360" y="4041648"/>
            <a:ext cx="7955280" cy="658368"/>
          </a:xfrm>
          <a:prstGeom prst="rect">
            <a:avLst/>
          </a:prstGeom>
          <a:noFill/>
          <a:ln/>
        </p:spPr>
        <p:txBody>
          <a:bodyPr wrap="square" lIns="0" tIns="0" rIns="0" bIns="0" rtlCol="0" anchor="ctr"/>
          <a:lstStyle/>
          <a:p>
            <a:pPr marL="0" indent="0" algn="just">
              <a:buNone/>
            </a:pPr>
            <a:r>
              <a:rPr lang="en-US" sz="1150" dirty="0">
                <a:solidFill>
                  <a:srgbClr val="E8F4F8"/>
                </a:solidFill>
                <a:latin typeface="Times New Roman" panose="02020603050405020304" pitchFamily="18" charset="0"/>
                <a:ea typeface="Calibri" pitchFamily="34" charset="-122"/>
                <a:cs typeface="Times New Roman" panose="02020603050405020304" pitchFamily="18" charset="0"/>
              </a:rPr>
              <a:t>69% of users rated the system Better or Much Better than existing tools (Google Maps, TripAdvisor, Yelp). 100% engaged with the Deep Insights transparency feature. The fuzzy priority slider was the most praised unique differentiator. Main improvement area: expanding city coverage and adding real-time data.</a:t>
            </a:r>
            <a:endParaRPr lang="en-US" sz="11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899B6A4D-7B0E-BD51-1435-C93E582B04B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1EB94D-1FB2-4A0D-994B-A1FA507AFFEE}"/>
              </a:ext>
            </a:extLst>
          </p:cNvPr>
          <p:cNvSpPr txBox="1"/>
          <p:nvPr/>
        </p:nvSpPr>
        <p:spPr>
          <a:xfrm>
            <a:off x="0" y="2049565"/>
            <a:ext cx="5037151" cy="1815882"/>
          </a:xfrm>
          <a:prstGeom prst="rect">
            <a:avLst/>
          </a:prstGeom>
          <a:noFill/>
        </p:spPr>
        <p:txBody>
          <a:bodyPr wrap="square">
            <a:spAutoFit/>
          </a:bodyPr>
          <a:lstStyle/>
          <a:p>
            <a:pPr marL="285750" indent="-285750" algn="just">
              <a:buClr>
                <a:schemeClr val="tx1"/>
              </a:buClr>
              <a:buFont typeface="Arial" panose="020B0604020202020204" pitchFamily="34" charset="0"/>
              <a:buChar char="•"/>
            </a:pPr>
            <a:r>
              <a:rPr lang="en-GB" b="1" i="0" dirty="0">
                <a:solidFill>
                  <a:srgbClr val="38BDF8"/>
                </a:solidFill>
                <a:effectLst/>
                <a:latin typeface="Times New Roman" panose="02020603050405020304" pitchFamily="18" charset="0"/>
                <a:cs typeface="Times New Roman" panose="02020603050405020304" pitchFamily="18" charset="0"/>
              </a:rPr>
              <a:t>Methodology:</a:t>
            </a:r>
            <a:r>
              <a:rPr lang="en-GB" b="0" i="0" dirty="0">
                <a:solidFill>
                  <a:srgbClr val="CBD5E1"/>
                </a:solidFill>
                <a:effectLst/>
                <a:latin typeface="Times New Roman" panose="02020603050405020304" pitchFamily="18" charset="0"/>
                <a:cs typeface="Times New Roman" panose="02020603050405020304" pitchFamily="18" charset="0"/>
              </a:rPr>
              <a:t> 20 diverse locations from our dataset were manually evaluated based strictly on their raw parameters (Distance, Cost, Quality, etc.).</a:t>
            </a:r>
          </a:p>
          <a:p>
            <a:pPr marL="285750" indent="-285750" algn="just">
              <a:buClr>
                <a:schemeClr val="tx1"/>
              </a:buClr>
              <a:buFont typeface="Arial" panose="020B0604020202020204" pitchFamily="34" charset="0"/>
              <a:buChar char="•"/>
            </a:pPr>
            <a:r>
              <a:rPr lang="en-GB" b="1" i="0" dirty="0">
                <a:solidFill>
                  <a:srgbClr val="38BDF8"/>
                </a:solidFill>
                <a:effectLst/>
                <a:latin typeface="Times New Roman" panose="02020603050405020304" pitchFamily="18" charset="0"/>
                <a:cs typeface="Times New Roman" panose="02020603050405020304" pitchFamily="18" charset="0"/>
              </a:rPr>
              <a:t>Cross-Validation:</a:t>
            </a:r>
            <a:r>
              <a:rPr lang="en-GB" b="0" i="0" dirty="0">
                <a:solidFill>
                  <a:srgbClr val="CBD5E1"/>
                </a:solidFill>
                <a:effectLst/>
                <a:latin typeface="Times New Roman" panose="02020603050405020304" pitchFamily="18" charset="0"/>
                <a:cs typeface="Times New Roman" panose="02020603050405020304" pitchFamily="18" charset="0"/>
              </a:rPr>
              <a:t> We assigned human-intuitive labels (e.g., "Good", "Very Bad") and ran the exact same parameters through the Fuzzy Engine.</a:t>
            </a:r>
          </a:p>
          <a:p>
            <a:pPr marL="285750" indent="-285750" algn="just">
              <a:buClr>
                <a:schemeClr val="tx1"/>
              </a:buClr>
              <a:buFont typeface="Arial" panose="020B0604020202020204" pitchFamily="34" charset="0"/>
              <a:buChar char="•"/>
            </a:pPr>
            <a:r>
              <a:rPr lang="en-GB" b="1" i="0" dirty="0">
                <a:solidFill>
                  <a:srgbClr val="38BDF8"/>
                </a:solidFill>
                <a:effectLst/>
                <a:latin typeface="Times New Roman" panose="02020603050405020304" pitchFamily="18" charset="0"/>
                <a:cs typeface="Times New Roman" panose="02020603050405020304" pitchFamily="18" charset="0"/>
              </a:rPr>
              <a:t>92% Agreement:</a:t>
            </a:r>
            <a:r>
              <a:rPr lang="en-GB" b="0" i="0" dirty="0">
                <a:solidFill>
                  <a:srgbClr val="CBD5E1"/>
                </a:solidFill>
                <a:effectLst/>
                <a:latin typeface="Times New Roman" panose="02020603050405020304" pitchFamily="18" charset="0"/>
                <a:cs typeface="Times New Roman" panose="02020603050405020304" pitchFamily="18" charset="0"/>
              </a:rPr>
              <a:t> The system successfully replicated human decision-making logic in 18 out of 20 test cases.</a:t>
            </a:r>
          </a:p>
        </p:txBody>
      </p:sp>
      <p:graphicFrame>
        <p:nvGraphicFramePr>
          <p:cNvPr id="5" name="Table 4">
            <a:extLst>
              <a:ext uri="{FF2B5EF4-FFF2-40B4-BE49-F238E27FC236}">
                <a16:creationId xmlns:a16="http://schemas.microsoft.com/office/drawing/2014/main" id="{10E72DBD-3560-5277-6D96-CB438E0EF13D}"/>
              </a:ext>
            </a:extLst>
          </p:cNvPr>
          <p:cNvGraphicFramePr>
            <a:graphicFrameLocks noGrp="1"/>
          </p:cNvGraphicFramePr>
          <p:nvPr>
            <p:extLst>
              <p:ext uri="{D42A27DB-BD31-4B8C-83A1-F6EECF244321}">
                <p14:modId xmlns:p14="http://schemas.microsoft.com/office/powerpoint/2010/main" val="704485488"/>
              </p:ext>
            </p:extLst>
          </p:nvPr>
        </p:nvGraphicFramePr>
        <p:xfrm>
          <a:off x="5184251" y="901103"/>
          <a:ext cx="3768916" cy="4034992"/>
        </p:xfrm>
        <a:graphic>
          <a:graphicData uri="http://schemas.openxmlformats.org/drawingml/2006/table">
            <a:tbl>
              <a:tblPr/>
              <a:tblGrid>
                <a:gridCol w="942229">
                  <a:extLst>
                    <a:ext uri="{9D8B030D-6E8A-4147-A177-3AD203B41FA5}">
                      <a16:colId xmlns:a16="http://schemas.microsoft.com/office/drawing/2014/main" val="2245178058"/>
                    </a:ext>
                  </a:extLst>
                </a:gridCol>
                <a:gridCol w="942229">
                  <a:extLst>
                    <a:ext uri="{9D8B030D-6E8A-4147-A177-3AD203B41FA5}">
                      <a16:colId xmlns:a16="http://schemas.microsoft.com/office/drawing/2014/main" val="2855912774"/>
                    </a:ext>
                  </a:extLst>
                </a:gridCol>
                <a:gridCol w="942229">
                  <a:extLst>
                    <a:ext uri="{9D8B030D-6E8A-4147-A177-3AD203B41FA5}">
                      <a16:colId xmlns:a16="http://schemas.microsoft.com/office/drawing/2014/main" val="3184716510"/>
                    </a:ext>
                  </a:extLst>
                </a:gridCol>
                <a:gridCol w="942229">
                  <a:extLst>
                    <a:ext uri="{9D8B030D-6E8A-4147-A177-3AD203B41FA5}">
                      <a16:colId xmlns:a16="http://schemas.microsoft.com/office/drawing/2014/main" val="3711179386"/>
                    </a:ext>
                  </a:extLst>
                </a:gridCol>
              </a:tblGrid>
              <a:tr h="402215">
                <a:tc>
                  <a:txBody>
                    <a:bodyPr/>
                    <a:lstStyle/>
                    <a:p>
                      <a:pPr algn="l">
                        <a:buNone/>
                      </a:pPr>
                      <a:r>
                        <a:rPr lang="en-GB" sz="900">
                          <a:solidFill>
                            <a:srgbClr val="38BDF8"/>
                          </a:solidFill>
                          <a:effectLst/>
                        </a:rPr>
                        <a:t>Scenario (Raw Parameters)</a:t>
                      </a:r>
                    </a:p>
                  </a:txBody>
                  <a:tcPr marL="55591" marR="55591" marT="55591" marB="55591" anchor="ctr">
                    <a:lnL>
                      <a:noFill/>
                    </a:lnL>
                    <a:lnR>
                      <a:noFill/>
                    </a:lnR>
                    <a:lnT>
                      <a:noFill/>
                    </a:lnT>
                    <a:lnB>
                      <a:noFill/>
                    </a:lnB>
                    <a:solidFill>
                      <a:srgbClr val="1E293B"/>
                    </a:solidFill>
                  </a:tcPr>
                </a:tc>
                <a:tc>
                  <a:txBody>
                    <a:bodyPr/>
                    <a:lstStyle/>
                    <a:p>
                      <a:pPr algn="l">
                        <a:buNone/>
                      </a:pPr>
                      <a:r>
                        <a:rPr lang="en-GB" sz="900" dirty="0">
                          <a:solidFill>
                            <a:srgbClr val="38BDF8"/>
                          </a:solidFill>
                          <a:effectLst/>
                        </a:rPr>
                        <a:t>Human Intuition</a:t>
                      </a:r>
                    </a:p>
                  </a:txBody>
                  <a:tcPr marL="55591" marR="55591" marT="55591" marB="55591" anchor="ctr">
                    <a:lnL>
                      <a:noFill/>
                    </a:lnL>
                    <a:lnR>
                      <a:noFill/>
                    </a:lnR>
                    <a:lnT>
                      <a:noFill/>
                    </a:lnT>
                    <a:lnB>
                      <a:noFill/>
                    </a:lnB>
                    <a:solidFill>
                      <a:srgbClr val="1E293B"/>
                    </a:solidFill>
                  </a:tcPr>
                </a:tc>
                <a:tc>
                  <a:txBody>
                    <a:bodyPr/>
                    <a:lstStyle/>
                    <a:p>
                      <a:pPr algn="l">
                        <a:buNone/>
                      </a:pPr>
                      <a:r>
                        <a:rPr lang="en-GB" sz="900">
                          <a:solidFill>
                            <a:srgbClr val="38BDF8"/>
                          </a:solidFill>
                          <a:effectLst/>
                        </a:rPr>
                        <a:t>Fuzzy Output</a:t>
                      </a:r>
                    </a:p>
                  </a:txBody>
                  <a:tcPr marL="55591" marR="55591" marT="55591" marB="55591" anchor="ctr">
                    <a:lnL>
                      <a:noFill/>
                    </a:lnL>
                    <a:lnR>
                      <a:noFill/>
                    </a:lnR>
                    <a:lnT>
                      <a:noFill/>
                    </a:lnT>
                    <a:lnB>
                      <a:noFill/>
                    </a:lnB>
                    <a:solidFill>
                      <a:srgbClr val="1E293B"/>
                    </a:solidFill>
                  </a:tcPr>
                </a:tc>
                <a:tc>
                  <a:txBody>
                    <a:bodyPr/>
                    <a:lstStyle/>
                    <a:p>
                      <a:pPr algn="l">
                        <a:buNone/>
                      </a:pPr>
                      <a:r>
                        <a:rPr lang="en-GB" sz="900">
                          <a:solidFill>
                            <a:srgbClr val="38BDF8"/>
                          </a:solidFill>
                          <a:effectLst/>
                        </a:rPr>
                        <a:t>Match?</a:t>
                      </a:r>
                    </a:p>
                  </a:txBody>
                  <a:tcPr marL="55591" marR="55591" marT="55591" marB="55591" anchor="ctr">
                    <a:lnL>
                      <a:noFill/>
                    </a:lnL>
                    <a:lnR>
                      <a:noFill/>
                    </a:lnR>
                    <a:lnT>
                      <a:noFill/>
                    </a:lnT>
                    <a:lnB>
                      <a:noFill/>
                    </a:lnB>
                    <a:solidFill>
                      <a:srgbClr val="1E293B"/>
                    </a:solidFill>
                  </a:tcPr>
                </a:tc>
                <a:extLst>
                  <a:ext uri="{0D108BD9-81ED-4DB2-BD59-A6C34878D82A}">
                    <a16:rowId xmlns:a16="http://schemas.microsoft.com/office/drawing/2014/main" val="1108702604"/>
                  </a:ext>
                </a:extLst>
              </a:tr>
              <a:tr h="493038">
                <a:tc>
                  <a:txBody>
                    <a:bodyPr/>
                    <a:lstStyle/>
                    <a:p>
                      <a:pPr>
                        <a:buNone/>
                      </a:pPr>
                      <a:r>
                        <a:rPr lang="en-GB" sz="900" b="1">
                          <a:solidFill>
                            <a:srgbClr val="38BDF8"/>
                          </a:solidFill>
                          <a:effectLst/>
                        </a:rPr>
                        <a:t>Ideal:</a:t>
                      </a:r>
                      <a:r>
                        <a:rPr lang="en-GB" sz="900">
                          <a:solidFill>
                            <a:srgbClr val="F8FAFC"/>
                          </a:solidFill>
                          <a:effectLst/>
                        </a:rPr>
                        <a:t> Low Dist, Low Cost, High Quality</a:t>
                      </a:r>
                    </a:p>
                  </a:txBody>
                  <a:tcPr marL="55591" marR="55591" marT="55591" marB="55591" anchor="ctr">
                    <a:lnL>
                      <a:noFill/>
                    </a:lnL>
                    <a:lnR>
                      <a:noFill/>
                    </a:lnR>
                    <a:lnT>
                      <a:noFill/>
                    </a:lnT>
                    <a:lnB w="9525" cap="flat" cmpd="sng" algn="ctr">
                      <a:solidFill>
                        <a:srgbClr val="334155"/>
                      </a:solidFill>
                      <a:prstDash val="solid"/>
                      <a:round/>
                      <a:headEnd type="none" w="med" len="med"/>
                      <a:tailEnd type="none" w="med" len="med"/>
                    </a:lnB>
                    <a:noFill/>
                  </a:tcPr>
                </a:tc>
                <a:tc>
                  <a:txBody>
                    <a:bodyPr/>
                    <a:lstStyle/>
                    <a:p>
                      <a:pPr>
                        <a:buNone/>
                      </a:pPr>
                      <a:r>
                        <a:rPr lang="en-GB" sz="900">
                          <a:solidFill>
                            <a:srgbClr val="F8FAFC"/>
                          </a:solidFill>
                          <a:effectLst/>
                        </a:rPr>
                        <a:t>Excellent</a:t>
                      </a:r>
                    </a:p>
                  </a:txBody>
                  <a:tcPr marL="55591" marR="55591" marT="55591" marB="55591" anchor="ctr">
                    <a:lnL>
                      <a:noFill/>
                    </a:lnL>
                    <a:lnR>
                      <a:noFill/>
                    </a:lnR>
                    <a:lnT>
                      <a:noFill/>
                    </a:lnT>
                    <a:lnB w="9525" cap="flat" cmpd="sng" algn="ctr">
                      <a:solidFill>
                        <a:srgbClr val="334155"/>
                      </a:solidFill>
                      <a:prstDash val="solid"/>
                      <a:round/>
                      <a:headEnd type="none" w="med" len="med"/>
                      <a:tailEnd type="none" w="med" len="med"/>
                    </a:lnB>
                    <a:noFill/>
                  </a:tcPr>
                </a:tc>
                <a:tc>
                  <a:txBody>
                    <a:bodyPr/>
                    <a:lstStyle/>
                    <a:p>
                      <a:pPr>
                        <a:buNone/>
                      </a:pPr>
                      <a:r>
                        <a:rPr lang="en-GB" sz="900">
                          <a:solidFill>
                            <a:srgbClr val="F8FAFC"/>
                          </a:solidFill>
                          <a:effectLst/>
                        </a:rPr>
                        <a:t>Excellent (91)</a:t>
                      </a:r>
                    </a:p>
                  </a:txBody>
                  <a:tcPr marL="55591" marR="55591" marT="55591" marB="55591" anchor="ctr">
                    <a:lnL>
                      <a:noFill/>
                    </a:lnL>
                    <a:lnR>
                      <a:noFill/>
                    </a:lnR>
                    <a:lnT>
                      <a:noFill/>
                    </a:lnT>
                    <a:lnB w="9525" cap="flat" cmpd="sng" algn="ctr">
                      <a:solidFill>
                        <a:srgbClr val="334155"/>
                      </a:solidFill>
                      <a:prstDash val="solid"/>
                      <a:round/>
                      <a:headEnd type="none" w="med" len="med"/>
                      <a:tailEnd type="none" w="med" len="med"/>
                    </a:lnB>
                    <a:noFill/>
                  </a:tcPr>
                </a:tc>
                <a:tc>
                  <a:txBody>
                    <a:bodyPr/>
                    <a:lstStyle/>
                    <a:p>
                      <a:pPr>
                        <a:buNone/>
                      </a:pPr>
                      <a:r>
                        <a:rPr lang="en-GB" sz="900" b="1">
                          <a:solidFill>
                            <a:srgbClr val="10B981"/>
                          </a:solidFill>
                          <a:effectLst/>
                        </a:rPr>
                        <a:t> Yes</a:t>
                      </a:r>
                    </a:p>
                  </a:txBody>
                  <a:tcPr marL="55591" marR="55591" marT="55591" marB="55591" anchor="ctr">
                    <a:lnL>
                      <a:noFill/>
                    </a:lnL>
                    <a:lnR>
                      <a:noFill/>
                    </a:lnR>
                    <a:lnT>
                      <a:noFill/>
                    </a:lnT>
                    <a:lnB w="9525"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782927174"/>
                  </a:ext>
                </a:extLst>
              </a:tr>
              <a:tr h="493038">
                <a:tc>
                  <a:txBody>
                    <a:bodyPr/>
                    <a:lstStyle/>
                    <a:p>
                      <a:pPr>
                        <a:buNone/>
                      </a:pPr>
                      <a:r>
                        <a:rPr lang="en-GB" sz="900" b="1">
                          <a:solidFill>
                            <a:srgbClr val="38BDF8"/>
                          </a:solidFill>
                          <a:effectLst/>
                        </a:rPr>
                        <a:t>Poor:</a:t>
                      </a:r>
                      <a:r>
                        <a:rPr lang="en-GB" sz="900">
                          <a:solidFill>
                            <a:srgbClr val="F8FAFC"/>
                          </a:solidFill>
                          <a:effectLst/>
                        </a:rPr>
                        <a:t> High Dist, High Cost, Low Clean</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dirty="0">
                          <a:solidFill>
                            <a:srgbClr val="F8FAFC"/>
                          </a:solidFill>
                          <a:effectLst/>
                        </a:rPr>
                        <a:t>Very Bad</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a:solidFill>
                            <a:srgbClr val="F8FAFC"/>
                          </a:solidFill>
                          <a:effectLst/>
                        </a:rPr>
                        <a:t>Very Bad (15)</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b="1">
                          <a:solidFill>
                            <a:srgbClr val="10B981"/>
                          </a:solidFill>
                          <a:effectLst/>
                        </a:rPr>
                        <a:t> Yes</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1090392432"/>
                  </a:ext>
                </a:extLst>
              </a:tr>
              <a:tr h="493038">
                <a:tc>
                  <a:txBody>
                    <a:bodyPr/>
                    <a:lstStyle/>
                    <a:p>
                      <a:pPr>
                        <a:buNone/>
                      </a:pPr>
                      <a:r>
                        <a:rPr lang="en-GB" sz="900" b="1">
                          <a:solidFill>
                            <a:srgbClr val="38BDF8"/>
                          </a:solidFill>
                          <a:effectLst/>
                        </a:rPr>
                        <a:t>Average:</a:t>
                      </a:r>
                      <a:r>
                        <a:rPr lang="en-GB" sz="900">
                          <a:solidFill>
                            <a:srgbClr val="F8FAFC"/>
                          </a:solidFill>
                          <a:effectLst/>
                        </a:rPr>
                        <a:t> Med Dist, Med Cost, Med Quality</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a:solidFill>
                            <a:srgbClr val="F8FAFC"/>
                          </a:solidFill>
                          <a:effectLst/>
                        </a:rPr>
                        <a:t>Average</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a:solidFill>
                            <a:srgbClr val="F8FAFC"/>
                          </a:solidFill>
                          <a:effectLst/>
                        </a:rPr>
                        <a:t>Average (52)</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b="1">
                          <a:solidFill>
                            <a:srgbClr val="10B981"/>
                          </a:solidFill>
                          <a:effectLst/>
                        </a:rPr>
                        <a:t> Yes</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1287073191"/>
                  </a:ext>
                </a:extLst>
              </a:tr>
              <a:tr h="856329">
                <a:tc>
                  <a:txBody>
                    <a:bodyPr/>
                    <a:lstStyle/>
                    <a:p>
                      <a:pPr>
                        <a:buNone/>
                      </a:pPr>
                      <a:r>
                        <a:rPr lang="en-GB" sz="900" b="1" dirty="0">
                          <a:solidFill>
                            <a:srgbClr val="38BDF8"/>
                          </a:solidFill>
                          <a:effectLst/>
                        </a:rPr>
                        <a:t>Edge Case 1:</a:t>
                      </a:r>
                      <a:r>
                        <a:rPr lang="en-GB" sz="900" dirty="0">
                          <a:solidFill>
                            <a:srgbClr val="F8FAFC"/>
                          </a:solidFill>
                          <a:effectLst/>
                        </a:rPr>
                        <a:t> Perfect Taste, but High Distance &amp; Cost</a:t>
                      </a:r>
                    </a:p>
                    <a:p>
                      <a:pPr>
                        <a:buNone/>
                      </a:pPr>
                      <a:endParaRPr lang="en-GB" sz="900" i="1" dirty="0">
                        <a:solidFill>
                          <a:srgbClr val="F8FAFC"/>
                        </a:solidFill>
                        <a:effectLst/>
                      </a:endParaRPr>
                    </a:p>
                    <a:p>
                      <a:pPr>
                        <a:buNone/>
                      </a:pPr>
                      <a:r>
                        <a:rPr lang="en-GB" sz="900" i="1" dirty="0">
                          <a:solidFill>
                            <a:srgbClr val="94A3B8"/>
                          </a:solidFill>
                          <a:effectLst/>
                        </a:rPr>
                        <a:t>System lacks "sentimental bias"</a:t>
                      </a:r>
                      <a:endParaRPr lang="en-GB" sz="900" dirty="0">
                        <a:solidFill>
                          <a:srgbClr val="F8FAFC"/>
                        </a:solidFill>
                        <a:effectLst/>
                      </a:endParaRP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a:solidFill>
                            <a:srgbClr val="F8FAFC"/>
                          </a:solidFill>
                          <a:effectLst/>
                        </a:rPr>
                        <a:t>Good</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a:solidFill>
                            <a:srgbClr val="F8FAFC"/>
                          </a:solidFill>
                          <a:effectLst/>
                        </a:rPr>
                        <a:t>Average (55)</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tc>
                  <a:txBody>
                    <a:bodyPr/>
                    <a:lstStyle/>
                    <a:p>
                      <a:pPr>
                        <a:buNone/>
                      </a:pPr>
                      <a:r>
                        <a:rPr lang="en-GB" sz="900" b="1">
                          <a:solidFill>
                            <a:srgbClr val="EF4444"/>
                          </a:solidFill>
                          <a:effectLst/>
                        </a:rPr>
                        <a:t> No</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982298709"/>
                  </a:ext>
                </a:extLst>
              </a:tr>
              <a:tr h="856329">
                <a:tc>
                  <a:txBody>
                    <a:bodyPr/>
                    <a:lstStyle/>
                    <a:p>
                      <a:pPr>
                        <a:buNone/>
                      </a:pPr>
                      <a:r>
                        <a:rPr lang="en-GB" sz="900" b="1" dirty="0">
                          <a:solidFill>
                            <a:srgbClr val="38BDF8"/>
                          </a:solidFill>
                          <a:effectLst/>
                        </a:rPr>
                        <a:t>Edge Case 2:</a:t>
                      </a:r>
                      <a:r>
                        <a:rPr lang="en-GB" sz="900" dirty="0">
                          <a:solidFill>
                            <a:srgbClr val="F8FAFC"/>
                          </a:solidFill>
                          <a:effectLst/>
                        </a:rPr>
                        <a:t> Perfect Distance, Low Safety</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a:noFill/>
                    </a:lnB>
                    <a:noFill/>
                  </a:tcPr>
                </a:tc>
                <a:tc>
                  <a:txBody>
                    <a:bodyPr/>
                    <a:lstStyle/>
                    <a:p>
                      <a:pPr>
                        <a:buNone/>
                      </a:pPr>
                      <a:r>
                        <a:rPr lang="en-GB" sz="900">
                          <a:solidFill>
                            <a:srgbClr val="F8FAFC"/>
                          </a:solidFill>
                          <a:effectLst/>
                        </a:rPr>
                        <a:t>Bad</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a:noFill/>
                    </a:lnB>
                    <a:noFill/>
                  </a:tcPr>
                </a:tc>
                <a:tc>
                  <a:txBody>
                    <a:bodyPr/>
                    <a:lstStyle/>
                    <a:p>
                      <a:pPr>
                        <a:buNone/>
                      </a:pPr>
                      <a:r>
                        <a:rPr lang="en-GB" sz="900">
                          <a:solidFill>
                            <a:srgbClr val="F8FAFC"/>
                          </a:solidFill>
                          <a:effectLst/>
                        </a:rPr>
                        <a:t>Average (48)</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a:noFill/>
                    </a:lnB>
                    <a:noFill/>
                  </a:tcPr>
                </a:tc>
                <a:tc>
                  <a:txBody>
                    <a:bodyPr/>
                    <a:lstStyle/>
                    <a:p>
                      <a:pPr>
                        <a:buNone/>
                      </a:pPr>
                      <a:r>
                        <a:rPr lang="en-GB" sz="900" b="1" dirty="0">
                          <a:solidFill>
                            <a:srgbClr val="EF4444"/>
                          </a:solidFill>
                          <a:effectLst/>
                        </a:rPr>
                        <a:t> No</a:t>
                      </a:r>
                    </a:p>
                  </a:txBody>
                  <a:tcPr marL="55591" marR="55591" marT="55591" marB="55591" anchor="ctr">
                    <a:lnL>
                      <a:noFill/>
                    </a:lnL>
                    <a:lnR>
                      <a:noFill/>
                    </a:lnR>
                    <a:lnT w="9525" cap="flat" cmpd="sng" algn="ctr">
                      <a:solidFill>
                        <a:srgbClr val="334155"/>
                      </a:solidFill>
                      <a:prstDash val="solid"/>
                      <a:round/>
                      <a:headEnd type="none" w="med" len="med"/>
                      <a:tailEnd type="none" w="med" len="med"/>
                    </a:lnT>
                    <a:lnB>
                      <a:noFill/>
                    </a:lnB>
                    <a:noFill/>
                  </a:tcPr>
                </a:tc>
                <a:extLst>
                  <a:ext uri="{0D108BD9-81ED-4DB2-BD59-A6C34878D82A}">
                    <a16:rowId xmlns:a16="http://schemas.microsoft.com/office/drawing/2014/main" val="3401131850"/>
                  </a:ext>
                </a:extLst>
              </a:tr>
            </a:tbl>
          </a:graphicData>
        </a:graphic>
      </p:graphicFrame>
      <p:sp>
        <p:nvSpPr>
          <p:cNvPr id="8" name="TextBox 7">
            <a:extLst>
              <a:ext uri="{FF2B5EF4-FFF2-40B4-BE49-F238E27FC236}">
                <a16:creationId xmlns:a16="http://schemas.microsoft.com/office/drawing/2014/main" id="{A1BAA2D2-42CF-4670-1887-8983C8B5E2B8}"/>
              </a:ext>
            </a:extLst>
          </p:cNvPr>
          <p:cNvSpPr txBox="1"/>
          <p:nvPr/>
        </p:nvSpPr>
        <p:spPr>
          <a:xfrm>
            <a:off x="101380" y="168139"/>
            <a:ext cx="4575974" cy="1077218"/>
          </a:xfrm>
          <a:prstGeom prst="rect">
            <a:avLst/>
          </a:prstGeom>
          <a:noFill/>
        </p:spPr>
        <p:txBody>
          <a:bodyPr wrap="square">
            <a:spAutoFit/>
          </a:bodyPr>
          <a:lstStyle/>
          <a:p>
            <a:pPr algn="l">
              <a:spcAft>
                <a:spcPts val="3000"/>
              </a:spcAft>
              <a:buNone/>
            </a:pPr>
            <a:r>
              <a:rPr lang="en-GB" sz="3200" b="1" i="0" cap="all" dirty="0">
                <a:solidFill>
                  <a:srgbClr val="F8FAFC"/>
                </a:solidFill>
                <a:effectLst/>
                <a:latin typeface="Times New Roman" panose="02020603050405020304" pitchFamily="18" charset="0"/>
                <a:cs typeface="Times New Roman" panose="02020603050405020304" pitchFamily="18" charset="0"/>
              </a:rPr>
              <a:t>SYSTEM EVALUATION</a:t>
            </a:r>
          </a:p>
        </p:txBody>
      </p:sp>
    </p:spTree>
    <p:extLst>
      <p:ext uri="{BB962C8B-B14F-4D97-AF65-F5344CB8AC3E}">
        <p14:creationId xmlns:p14="http://schemas.microsoft.com/office/powerpoint/2010/main" val="3502818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83F8F73D-8EB3-3CC2-685C-5B21CE18D6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89A29F-4D23-09C7-D089-D2762031025E}"/>
              </a:ext>
            </a:extLst>
          </p:cNvPr>
          <p:cNvSpPr txBox="1"/>
          <p:nvPr/>
        </p:nvSpPr>
        <p:spPr>
          <a:xfrm>
            <a:off x="218995" y="0"/>
            <a:ext cx="4572000" cy="584775"/>
          </a:xfrm>
          <a:prstGeom prst="rect">
            <a:avLst/>
          </a:prstGeom>
          <a:noFill/>
        </p:spPr>
        <p:txBody>
          <a:bodyPr wrap="square">
            <a:spAutoFit/>
          </a:bodyPr>
          <a:lstStyle/>
          <a:p>
            <a:pPr algn="l">
              <a:spcAft>
                <a:spcPts val="3000"/>
              </a:spcAft>
              <a:buNone/>
            </a:pPr>
            <a:r>
              <a:rPr lang="en-GB" sz="3200" b="1" i="0" cap="all" dirty="0">
                <a:solidFill>
                  <a:srgbClr val="F8FAFC"/>
                </a:solidFill>
                <a:effectLst/>
                <a:latin typeface="Times New Roman" panose="02020603050405020304" pitchFamily="18" charset="0"/>
                <a:cs typeface="Times New Roman" panose="02020603050405020304" pitchFamily="18" charset="0"/>
              </a:rPr>
              <a:t>REFERENCES</a:t>
            </a:r>
          </a:p>
        </p:txBody>
      </p:sp>
      <p:sp>
        <p:nvSpPr>
          <p:cNvPr id="7" name="TextBox 6">
            <a:extLst>
              <a:ext uri="{FF2B5EF4-FFF2-40B4-BE49-F238E27FC236}">
                <a16:creationId xmlns:a16="http://schemas.microsoft.com/office/drawing/2014/main" id="{EE7E1A88-E4ED-CE5C-DA44-A5E0AA50B4A7}"/>
              </a:ext>
            </a:extLst>
          </p:cNvPr>
          <p:cNvSpPr txBox="1"/>
          <p:nvPr/>
        </p:nvSpPr>
        <p:spPr>
          <a:xfrm>
            <a:off x="510987" y="957681"/>
            <a:ext cx="8310283" cy="3323987"/>
          </a:xfrm>
          <a:prstGeom prst="rect">
            <a:avLst/>
          </a:prstGeom>
          <a:noFill/>
        </p:spPr>
        <p:txBody>
          <a:bodyPr wrap="square">
            <a:spAutoFit/>
          </a:bodyPr>
          <a:lstStyle/>
          <a:p>
            <a:pPr algn="just"/>
            <a:r>
              <a:rPr lang="en-GB" dirty="0">
                <a:solidFill>
                  <a:schemeClr val="tx1"/>
                </a:solidFill>
              </a:rPr>
              <a:t>[1] A. Kontogianni </a:t>
            </a:r>
            <a:r>
              <a:rPr lang="en-GB" i="1" dirty="0">
                <a:solidFill>
                  <a:schemeClr val="tx1"/>
                </a:solidFill>
              </a:rPr>
              <a:t>et al.</a:t>
            </a:r>
            <a:r>
              <a:rPr lang="en-GB" dirty="0">
                <a:solidFill>
                  <a:schemeClr val="tx1"/>
                </a:solidFill>
              </a:rPr>
              <a:t>, "Enhancing User Experience in Smart Tourism via Fuzzy Logic-Based Personalization," </a:t>
            </a:r>
            <a:r>
              <a:rPr lang="en-GB" i="1" dirty="0">
                <a:solidFill>
                  <a:schemeClr val="tx1"/>
                </a:solidFill>
              </a:rPr>
              <a:t>Mathematics</a:t>
            </a:r>
            <a:r>
              <a:rPr lang="en-GB" dirty="0">
                <a:solidFill>
                  <a:schemeClr val="tx1"/>
                </a:solidFill>
              </a:rPr>
              <a:t>, vol. 13, no. 5, p. 846, Mar. 2025.</a:t>
            </a:r>
          </a:p>
          <a:p>
            <a:pPr algn="just"/>
            <a:endParaRPr lang="en-GB" dirty="0">
              <a:solidFill>
                <a:schemeClr val="tx1"/>
              </a:solidFill>
            </a:endParaRPr>
          </a:p>
          <a:p>
            <a:pPr algn="just"/>
            <a:r>
              <a:rPr lang="en-GB" dirty="0">
                <a:solidFill>
                  <a:schemeClr val="tx1"/>
                </a:solidFill>
              </a:rPr>
              <a:t>[2] B. Dhiyanesh, "Fuzzy Logic In The Digital Travel Era: Enhancing Tourist Experience Through Comprehensive Hotel Reviews And Sentiment Analysis," </a:t>
            </a:r>
            <a:r>
              <a:rPr lang="en-GB" i="1" dirty="0">
                <a:solidFill>
                  <a:schemeClr val="tx1"/>
                </a:solidFill>
              </a:rPr>
              <a:t>Journal of Electrical Systems</a:t>
            </a:r>
            <a:r>
              <a:rPr lang="en-GB" dirty="0">
                <a:solidFill>
                  <a:schemeClr val="tx1"/>
                </a:solidFill>
              </a:rPr>
              <a:t>, 2024.</a:t>
            </a:r>
          </a:p>
          <a:p>
            <a:pPr algn="just"/>
            <a:endParaRPr lang="en-GB" dirty="0">
              <a:solidFill>
                <a:schemeClr val="tx1"/>
              </a:solidFill>
            </a:endParaRPr>
          </a:p>
          <a:p>
            <a:pPr algn="just"/>
            <a:r>
              <a:rPr lang="en-GB" dirty="0">
                <a:solidFill>
                  <a:schemeClr val="tx1"/>
                </a:solidFill>
              </a:rPr>
              <a:t>[3] B. N. M. Casilla </a:t>
            </a:r>
            <a:r>
              <a:rPr lang="en-GB" i="1" dirty="0">
                <a:solidFill>
                  <a:schemeClr val="tx1"/>
                </a:solidFill>
              </a:rPr>
              <a:t>et al.</a:t>
            </a:r>
            <a:r>
              <a:rPr lang="en-GB" dirty="0">
                <a:solidFill>
                  <a:schemeClr val="tx1"/>
                </a:solidFill>
              </a:rPr>
              <a:t>, "Recommendation System For Tourist Routes Using Fuzzy Logic In The Arequipa City," in </a:t>
            </a:r>
            <a:r>
              <a:rPr lang="en-GB" i="1" dirty="0">
                <a:solidFill>
                  <a:schemeClr val="tx1"/>
                </a:solidFill>
              </a:rPr>
              <a:t>2022 IEEE Colombian Conference on Communications and Computing (COLCOM)</a:t>
            </a:r>
            <a:r>
              <a:rPr lang="en-GB" dirty="0">
                <a:solidFill>
                  <a:schemeClr val="tx1"/>
                </a:solidFill>
              </a:rPr>
              <a:t>, 2022.</a:t>
            </a:r>
          </a:p>
          <a:p>
            <a:pPr algn="just"/>
            <a:endParaRPr lang="en-GB" dirty="0">
              <a:solidFill>
                <a:schemeClr val="tx1"/>
              </a:solidFill>
            </a:endParaRPr>
          </a:p>
          <a:p>
            <a:pPr algn="just"/>
            <a:r>
              <a:rPr lang="en-GB" dirty="0">
                <a:solidFill>
                  <a:schemeClr val="tx1"/>
                </a:solidFill>
              </a:rPr>
              <a:t>[4] H. Khan </a:t>
            </a:r>
            <a:r>
              <a:rPr lang="en-GB" i="1" dirty="0">
                <a:solidFill>
                  <a:schemeClr val="tx1"/>
                </a:solidFill>
              </a:rPr>
              <a:t>et al.</a:t>
            </a:r>
            <a:r>
              <a:rPr lang="en-GB" dirty="0">
                <a:solidFill>
                  <a:schemeClr val="tx1"/>
                </a:solidFill>
              </a:rPr>
              <a:t>, "Tourist Spot Recommendation System Using Fuzzy Inference System," in </a:t>
            </a:r>
            <a:r>
              <a:rPr lang="en-GB" i="1" dirty="0">
                <a:solidFill>
                  <a:schemeClr val="tx1"/>
                </a:solidFill>
              </a:rPr>
              <a:t>14th International Conference on Fuzzy Systems and Knowledge Discovery (FSKD)</a:t>
            </a:r>
            <a:r>
              <a:rPr lang="en-GB" dirty="0">
                <a:solidFill>
                  <a:schemeClr val="tx1"/>
                </a:solidFill>
              </a:rPr>
              <a:t>, 2017, pp. 1198–1202.</a:t>
            </a:r>
          </a:p>
          <a:p>
            <a:pPr algn="just"/>
            <a:endParaRPr lang="en-GB" dirty="0">
              <a:solidFill>
                <a:schemeClr val="tx1"/>
              </a:solidFill>
            </a:endParaRPr>
          </a:p>
          <a:p>
            <a:pPr algn="just"/>
            <a:r>
              <a:rPr lang="en-GB" dirty="0">
                <a:solidFill>
                  <a:schemeClr val="tx1"/>
                </a:solidFill>
              </a:rPr>
              <a:t>[5] A. R. </a:t>
            </a:r>
            <a:r>
              <a:rPr lang="en-GB" dirty="0" err="1">
                <a:solidFill>
                  <a:schemeClr val="tx1"/>
                </a:solidFill>
              </a:rPr>
              <a:t>Nandatiko</a:t>
            </a:r>
            <a:r>
              <a:rPr lang="en-GB" dirty="0">
                <a:solidFill>
                  <a:schemeClr val="tx1"/>
                </a:solidFill>
              </a:rPr>
              <a:t>, W. F. </a:t>
            </a:r>
            <a:r>
              <a:rPr lang="en-GB" dirty="0" err="1">
                <a:solidFill>
                  <a:schemeClr val="tx1"/>
                </a:solidFill>
              </a:rPr>
              <a:t>Satrya</a:t>
            </a:r>
            <a:r>
              <a:rPr lang="en-GB" dirty="0">
                <a:solidFill>
                  <a:schemeClr val="tx1"/>
                </a:solidFill>
              </a:rPr>
              <a:t>, and E. </a:t>
            </a:r>
            <a:r>
              <a:rPr lang="en-GB" dirty="0" err="1">
                <a:solidFill>
                  <a:schemeClr val="tx1"/>
                </a:solidFill>
              </a:rPr>
              <a:t>Yossy</a:t>
            </a:r>
            <a:r>
              <a:rPr lang="en-GB" dirty="0">
                <a:solidFill>
                  <a:schemeClr val="tx1"/>
                </a:solidFill>
              </a:rPr>
              <a:t>, "Tourism Recommendation System Using Fuzzy Logic Method," </a:t>
            </a:r>
            <a:r>
              <a:rPr lang="en-GB" i="1" dirty="0">
                <a:solidFill>
                  <a:schemeClr val="tx1"/>
                </a:solidFill>
              </a:rPr>
              <a:t>Lecture Notes in Electrical Engineering</a:t>
            </a:r>
            <a:r>
              <a:rPr lang="en-GB" dirty="0">
                <a:solidFill>
                  <a:schemeClr val="tx1"/>
                </a:solidFill>
              </a:rPr>
              <a:t>, Oct. 2023.</a:t>
            </a:r>
          </a:p>
        </p:txBody>
      </p:sp>
    </p:spTree>
    <p:extLst>
      <p:ext uri="{BB962C8B-B14F-4D97-AF65-F5344CB8AC3E}">
        <p14:creationId xmlns:p14="http://schemas.microsoft.com/office/powerpoint/2010/main" val="123276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FE89D1CD-C435-F933-A187-0724E1CA4B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F91D860-7F05-A2A3-603F-5825B28CA7C3}"/>
              </a:ext>
            </a:extLst>
          </p:cNvPr>
          <p:cNvSpPr txBox="1"/>
          <p:nvPr/>
        </p:nvSpPr>
        <p:spPr>
          <a:xfrm>
            <a:off x="2278380" y="1615440"/>
            <a:ext cx="4997063" cy="1306255"/>
          </a:xfrm>
          <a:prstGeom prst="rect">
            <a:avLst/>
          </a:prstGeom>
          <a:noFill/>
        </p:spPr>
        <p:txBody>
          <a:bodyPr wrap="square">
            <a:spAutoFit/>
          </a:bodyPr>
          <a:lstStyle/>
          <a:p>
            <a:pPr marL="0" lvl="0" indent="0">
              <a:lnSpc>
                <a:spcPct val="150000"/>
              </a:lnSpc>
              <a:buNone/>
            </a:pPr>
            <a:r>
              <a:rPr lang="en-US" sz="6000" b="1" dirty="0">
                <a:solidFill>
                  <a:schemeClr val="tx1"/>
                </a:solidFill>
                <a:latin typeface="Times New Roman" panose="02020603050405020304" pitchFamily="18" charset="0"/>
                <a:cs typeface="Times New Roman" panose="02020603050405020304" pitchFamily="18" charset="0"/>
              </a:rPr>
              <a:t>THANK YOU</a:t>
            </a:r>
            <a:endParaRPr lang="en-IN" sz="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0591604"/>
      </p:ext>
    </p:extLst>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862</TotalTime>
  <Words>2681</Words>
  <Application>Microsoft Macintosh PowerPoint</Application>
  <PresentationFormat>On-screen Show (16:9)</PresentationFormat>
  <Paragraphs>160</Paragraphs>
  <Slides>15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Times New Roman</vt:lpstr>
      <vt:lpstr>Roboto</vt:lpstr>
      <vt:lpstr>Arial</vt:lpstr>
      <vt:lpstr>Roboto Slab</vt:lpstr>
      <vt:lpstr>Marina</vt:lpstr>
      <vt:lpstr>Fuzzy Logic Based Travel Recommendation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Sharan Karanam</cp:lastModifiedBy>
  <cp:revision>6</cp:revision>
  <dcterms:modified xsi:type="dcterms:W3CDTF">2026-05-28T21:19:40Z</dcterms:modified>
</cp:coreProperties>
</file>
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64" r:id="rId3"/>
    <p:sldId id="272" r:id="rId4"/>
    <p:sldId id="273" r:id="rId5"/>
    <p:sldId id="274" r:id="rId6"/>
    <p:sldId id="275" r:id="rId7"/>
    <p:sldId id="276" r:id="rId8"/>
    <p:sldId id="281" r:id="rId24"/>
    <p:sldId id="277" r:id="rId9"/>
    <p:sldId id="278" r:id="rId10"/>
    <p:sldId id="279" r:id="rId11"/>
    <p:sldId id="280" r:id="rId12"/>
  </p:sldIdLst>
  <p:sldSz cx="9144000" cy="5143500" type="screen16x9"/>
  <p:notesSz cx="6858000" cy="9144000"/>
  <p:embeddedFontLst>
    <p:embeddedFont>
      <p:font typeface="Roboto" panose="02000000000000000000" pitchFamily="2" charset="0"/>
      <p:regular r:id="rId14"/>
      <p:bold r:id="rId15"/>
      <p:italic r:id="rId16"/>
      <p:boldItalic r:id="rId17"/>
    </p:embeddedFont>
    <p:embeddedFont>
      <p:font typeface="Roboto Slab" pitchFamily="2" charset="0"/>
      <p:regular r:id="rId18"/>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68A"/>
    <a:srgbClr val="FDBA74"/>
    <a:srgbClr val="A78BFA"/>
    <a:srgbClr val="86EFAC"/>
    <a:srgbClr val="7DD3FC"/>
    <a:srgbClr val="D1D5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23"/>
    <p:restoredTop sz="94667"/>
  </p:normalViewPr>
  <p:slideViewPr>
    <p:cSldViewPr snapToGrid="0">
      <p:cViewPr varScale="1">
        <p:scale>
          <a:sx n="188" d="100"/>
          <a:sy n="188" d="100"/>
        </p:scale>
        <p:origin x="184" y="3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c6f75fce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c6f75fce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c6f75fceb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10D99265-3550-2D68-52B9-87D7D18A14CB}"/>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1C2A2F08-BC5A-CDBE-F3F1-A9BF6AC662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2EB0E8DD-2EFD-D262-F5FE-205438FC1B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671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C48D8307-1EC1-6BF0-79BC-CF163600DD1E}"/>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B909BAE5-1B34-D9DA-35EF-8BD660F636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21355B09-3362-512B-D2AB-A32D90774F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5811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6996393F-A3BE-EDB2-62D0-949B43A79506}"/>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C7C4B5B3-A3A6-6F76-A71C-9663DB508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CC36E519-54A0-7172-BA07-875CCFC88A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2539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B4F89047-E82B-60BE-83C9-F98A09E50881}"/>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916BBA67-4FA0-3D61-F424-93ADEECDA6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497B9476-5E04-AAA0-6EE3-A45571CEA2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7080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F5813F4-59B5-6765-7A93-940105C9AA76}"/>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ACD84E1E-7864-3508-46EC-30325F536C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488E5CF6-D056-1EB1-EAB2-B7C0541DDA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2271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EAA78168-023A-8699-C97F-B94924D10679}"/>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6A5932D7-2AAB-A146-4120-0C7BECD896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7FB5E1E0-22CE-E0AD-DC76-C19F697521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7854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5CA31C74-324E-1D55-BA8B-06E2D0A507C3}"/>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7544AEB3-9E59-530C-3D4C-1CC0957B49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DC274997-7ED9-CB3A-AFDE-CA7651D078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087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AA8AA64-8A6F-CAFE-22C1-7DF6174D2505}"/>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26F5198D-575D-359B-88DA-E851869BF4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FC0D03B3-4F70-7137-62E2-E488654F9C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7619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C667E997-AD5B-2C2A-930D-E0F4ED99B8EA}"/>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B5BDA35B-3A87-0CEA-1E0F-A1D3E730B0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C7C7BB41-A03D-7F9F-8638-27D7C6FFB6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404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CH"/>
          </a:p>
        </p:txBody>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CH"/>
          </a:p>
        </p:txBody>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367519"/>
            <a:ext cx="6206398" cy="1457400"/>
          </a:xfrm>
          <a:prstGeom prst="rect">
            <a:avLst/>
          </a:prstGeom>
        </p:spPr>
        <p:txBody>
          <a:bodyPr spcFirstLastPara="1" wrap="square" lIns="91425" tIns="91425" rIns="91425" bIns="91425" anchor="b" anchorCtr="0">
            <a:noAutofit/>
          </a:bodyPr>
          <a:lstStyle/>
          <a:p>
            <a:pPr lvl="0"/>
            <a:r>
              <a:rPr lang="en-IN" dirty="0"/>
              <a:t>Fuzzy Logic Based Travel Recommendation System</a:t>
            </a:r>
            <a:endParaRPr dirty="0"/>
          </a:p>
        </p:txBody>
      </p:sp>
      <p:sp>
        <p:nvSpPr>
          <p:cNvPr id="64" name="Google Shape;64;p13"/>
          <p:cNvSpPr txBox="1">
            <a:spLocks noGrp="1"/>
          </p:cNvSpPr>
          <p:nvPr>
            <p:ph type="subTitle" idx="1"/>
          </p:nvPr>
        </p:nvSpPr>
        <p:spPr>
          <a:xfrm>
            <a:off x="1680302" y="3359675"/>
            <a:ext cx="5305800" cy="118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00" dirty="0">
                <a:solidFill>
                  <a:srgbClr val="FFF2CC"/>
                </a:solidFill>
              </a:rPr>
              <a:t>Presented By,</a:t>
            </a:r>
          </a:p>
          <a:p>
            <a:pPr marL="0" lvl="0" indent="0" algn="ctr" rtl="0">
              <a:spcBef>
                <a:spcPts val="0"/>
              </a:spcBef>
              <a:spcAft>
                <a:spcPts val="0"/>
              </a:spcAft>
              <a:buNone/>
            </a:pPr>
            <a:endParaRPr lang="en" sz="1100" dirty="0">
              <a:solidFill>
                <a:srgbClr val="FFF2CC"/>
              </a:solidFill>
            </a:endParaRPr>
          </a:p>
          <a:p>
            <a:pPr marL="0" lvl="0" indent="0" algn="ctr" rtl="0">
              <a:spcBef>
                <a:spcPts val="0"/>
              </a:spcBef>
              <a:spcAft>
                <a:spcPts val="0"/>
              </a:spcAft>
              <a:buNone/>
            </a:pPr>
            <a:r>
              <a:rPr lang="en" sz="1100" dirty="0">
                <a:solidFill>
                  <a:srgbClr val="FFF2CC"/>
                </a:solidFill>
              </a:rPr>
              <a:t>VAMSHI KRISHNA NEELAM </a:t>
            </a:r>
            <a:endParaRPr sz="1100" dirty="0">
              <a:solidFill>
                <a:srgbClr val="FFF2CC"/>
              </a:solidFill>
            </a:endParaRPr>
          </a:p>
          <a:p>
            <a:pPr marL="0" lvl="0" indent="0" algn="ctr" rtl="0">
              <a:spcBef>
                <a:spcPts val="0"/>
              </a:spcBef>
              <a:spcAft>
                <a:spcPts val="0"/>
              </a:spcAft>
              <a:buNone/>
            </a:pPr>
            <a:r>
              <a:rPr lang="en-IN" sz="1100" dirty="0">
                <a:solidFill>
                  <a:srgbClr val="FFF2CC"/>
                </a:solidFill>
              </a:rPr>
              <a:t>SAI SHARAN KARANAM</a:t>
            </a:r>
            <a:endParaRPr sz="1100" dirty="0">
              <a:solidFill>
                <a:srgbClr val="FFF2C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7" name="TextBox 6">
            <a:extLst>
              <a:ext uri="{FF2B5EF4-FFF2-40B4-BE49-F238E27FC236}">
                <a16:creationId xmlns:a16="http://schemas.microsoft.com/office/drawing/2014/main" id="{40C5BDC4-324C-B4C3-9F4C-B39B236128E0}"/>
              </a:ext>
            </a:extLst>
          </p:cNvPr>
          <p:cNvSpPr txBox="1"/>
          <p:nvPr/>
        </p:nvSpPr>
        <p:spPr>
          <a:xfrm>
            <a:off x="365760" y="220980"/>
            <a:ext cx="8595360" cy="4662815"/>
          </a:xfrm>
          <a:prstGeom prst="rect">
            <a:avLst/>
          </a:prstGeom>
          <a:noFill/>
        </p:spPr>
        <p:txBody>
          <a:bodyPr wrap="square">
            <a:spAutoFit/>
          </a:bodyPr>
          <a:lstStyle/>
          <a:p>
            <a:r>
              <a:rPr lang="en-IN" sz="3200" b="1" dirty="0">
                <a:solidFill>
                  <a:srgbClr val="00B0F0"/>
                </a:solidFill>
              </a:rPr>
              <a:t>Problem Statement</a:t>
            </a:r>
            <a:br>
              <a:rPr lang="en-IN" sz="1400" dirty="0">
                <a:solidFill>
                  <a:schemeClr val="tx1"/>
                </a:solidFill>
              </a:rPr>
            </a:br>
            <a:br>
              <a:rPr lang="en-IN" sz="1300" dirty="0">
                <a:solidFill>
                  <a:schemeClr val="tx1"/>
                </a:solidFill>
              </a:rPr>
            </a:br>
            <a:r>
              <a:rPr lang="en-US" sz="1200" dirty="0">
                <a:solidFill>
                  <a:schemeClr val="tx1"/>
                </a:solidFill>
              </a:rPr>
              <a:t>Travelers often struggle to find reliable and relevant places when visiting a new city. Most existing platforms rely heavily on ratings and reviews, which can be biased or easily manipulated. Additionally, information is scattered across multiple applications such as maps, food delivery apps, and pharmacy services, making the search process inefficient. More importantly, current systems do not evaluate multiple real-life factors—such as distance, cost, quality, and comfort—together to provide a single, meaningful score. As a result, there is no unified platform that offers an aggregated or sustainability-based recommendation to support better decision-making.</a:t>
            </a:r>
          </a:p>
          <a:p>
            <a:endParaRPr lang="en-US" sz="1200" dirty="0">
              <a:solidFill>
                <a:schemeClr val="tx1"/>
              </a:solidFill>
            </a:endParaRPr>
          </a:p>
          <a:p>
            <a:br>
              <a:rPr lang="en-US" sz="1200" dirty="0">
                <a:solidFill>
                  <a:schemeClr val="tx1"/>
                </a:solidFill>
              </a:rPr>
            </a:br>
            <a:br>
              <a:rPr lang="en-US" sz="1200" dirty="0">
                <a:solidFill>
                  <a:schemeClr val="tx1"/>
                </a:solidFill>
              </a:rPr>
            </a:br>
            <a:r>
              <a:rPr lang="en-US" b="1" dirty="0">
                <a:solidFill>
                  <a:srgbClr val="FDE68A"/>
                </a:solidFill>
              </a:rPr>
              <a:t>Issues Include:</a:t>
            </a:r>
          </a:p>
          <a:p>
            <a:br>
              <a:rPr lang="en-US" sz="1200" dirty="0">
                <a:solidFill>
                  <a:schemeClr val="tx1"/>
                </a:solidFill>
              </a:rPr>
            </a:br>
            <a:r>
              <a:rPr lang="en-US" sz="1200" dirty="0">
                <a:solidFill>
                  <a:schemeClr val="tx1"/>
                </a:solidFill>
              </a:rPr>
              <a:t>&gt; Ratings and reviews can be misleading or manipulated</a:t>
            </a:r>
            <a:br>
              <a:rPr lang="en-US" sz="1200" dirty="0">
                <a:solidFill>
                  <a:schemeClr val="tx1"/>
                </a:solidFill>
              </a:rPr>
            </a:br>
            <a:r>
              <a:rPr lang="en-US" sz="1200" dirty="0">
                <a:solidFill>
                  <a:schemeClr val="tx1"/>
                </a:solidFill>
              </a:rPr>
              <a:t>&gt; Users must switch between multiple apps to find basic services</a:t>
            </a:r>
            <a:br>
              <a:rPr lang="en-US" sz="1200" dirty="0">
                <a:solidFill>
                  <a:schemeClr val="tx1"/>
                </a:solidFill>
              </a:rPr>
            </a:br>
            <a:r>
              <a:rPr lang="en-US" sz="1200" dirty="0">
                <a:solidFill>
                  <a:schemeClr val="tx1"/>
                </a:solidFill>
              </a:rPr>
              <a:t>&gt; Lack of a single unified platform for essential needs</a:t>
            </a:r>
            <a:br>
              <a:rPr lang="en-US" sz="1200" dirty="0">
                <a:solidFill>
                  <a:schemeClr val="tx1"/>
                </a:solidFill>
              </a:rPr>
            </a:br>
            <a:r>
              <a:rPr lang="en-US" sz="1200" dirty="0">
                <a:solidFill>
                  <a:schemeClr val="tx1"/>
                </a:solidFill>
              </a:rPr>
              <a:t>&gt; No system provides an aggregated score based on multiple factors</a:t>
            </a:r>
            <a:br>
              <a:rPr lang="en-US" sz="1200" dirty="0">
                <a:solidFill>
                  <a:schemeClr val="tx1"/>
                </a:solidFill>
              </a:rPr>
            </a:br>
            <a:r>
              <a:rPr lang="en-US" sz="1200" dirty="0">
                <a:solidFill>
                  <a:schemeClr val="tx1"/>
                </a:solidFill>
              </a:rPr>
              <a:t>&gt; Decision-making becomes time-consuming and less reliable</a:t>
            </a:r>
            <a:br>
              <a:rPr lang="en-US" sz="1300" dirty="0">
                <a:solidFill>
                  <a:schemeClr val="tx1"/>
                </a:solidFill>
              </a:rPr>
            </a:br>
            <a:br>
              <a:rPr lang="en-US" sz="1400" dirty="0">
                <a:solidFill>
                  <a:schemeClr val="tx1"/>
                </a:solidFill>
              </a:rPr>
            </a:br>
            <a:br>
              <a:rPr lang="en-US" sz="1400" dirty="0">
                <a:solidFill>
                  <a:schemeClr val="tx1"/>
                </a:solidFill>
              </a:rPr>
            </a:br>
            <a:br>
              <a:rPr lang="en-US" sz="1400" dirty="0">
                <a:solidFill>
                  <a:schemeClr val="tx1"/>
                </a:solidFill>
              </a:rPr>
            </a:br>
            <a:endParaRPr lang="en-IN"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6F293245-1723-21DF-EF37-1C5710223C3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AB30A38-006D-F9BB-818A-8D68063344F8}"/>
              </a:ext>
            </a:extLst>
          </p:cNvPr>
          <p:cNvSpPr txBox="1"/>
          <p:nvPr/>
        </p:nvSpPr>
        <p:spPr>
          <a:xfrm>
            <a:off x="365760" y="220980"/>
            <a:ext cx="8595360" cy="4708981"/>
          </a:xfrm>
          <a:prstGeom prst="rect">
            <a:avLst/>
          </a:prstGeom>
          <a:noFill/>
        </p:spPr>
        <p:txBody>
          <a:bodyPr wrap="square">
            <a:spAutoFit/>
          </a:bodyPr>
          <a:lstStyle/>
          <a:p>
            <a:r>
              <a:rPr lang="en-US" sz="3200" b="1" dirty="0">
                <a:solidFill>
                  <a:srgbClr val="00B0F0"/>
                </a:solidFill>
              </a:rPr>
              <a:t>Proposed System using Fuzzy Systems</a:t>
            </a:r>
            <a:br>
              <a:rPr lang="en-US" dirty="0">
                <a:solidFill>
                  <a:schemeClr val="tx1"/>
                </a:solidFill>
              </a:rPr>
            </a:br>
            <a:br>
              <a:rPr lang="en-US" dirty="0">
                <a:solidFill>
                  <a:schemeClr val="tx1"/>
                </a:solidFill>
              </a:rPr>
            </a:br>
            <a:r>
              <a:rPr lang="en-US" sz="1200" dirty="0">
                <a:solidFill>
                  <a:schemeClr val="tx1"/>
                </a:solidFill>
              </a:rPr>
              <a:t>The proposed system uses fuzzy logic to build a smart recommendation platform for travelers. It considers multiple real-life factors instead of relying only on ratings, helping users make better and more informed decisions. The system outputs both a score and an easy-to-understand result like Good or Very Good.</a:t>
            </a:r>
          </a:p>
          <a:p>
            <a:br>
              <a:rPr lang="en-US" sz="1200" dirty="0">
                <a:solidFill>
                  <a:schemeClr val="tx1"/>
                </a:solidFill>
              </a:rPr>
            </a:br>
            <a:r>
              <a:rPr lang="en-US" sz="1200" dirty="0">
                <a:solidFill>
                  <a:schemeClr val="tx1"/>
                </a:solidFill>
              </a:rPr>
              <a:t>Develop a Smart Travel Recommendation System using Fuzzy Logic</a:t>
            </a:r>
          </a:p>
          <a:p>
            <a:br>
              <a:rPr lang="en-US" sz="1200" dirty="0">
                <a:solidFill>
                  <a:schemeClr val="tx1"/>
                </a:solidFill>
              </a:rPr>
            </a:br>
            <a:r>
              <a:rPr lang="en-US" sz="1200" b="1" dirty="0">
                <a:solidFill>
                  <a:srgbClr val="FDE68A"/>
                </a:solidFill>
              </a:rPr>
              <a:t>Provide all essential services in one platform:</a:t>
            </a:r>
          </a:p>
          <a:p>
            <a:br>
              <a:rPr lang="en-US" sz="1200" dirty="0">
                <a:solidFill>
                  <a:schemeClr val="tx1"/>
                </a:solidFill>
              </a:rPr>
            </a:br>
            <a:r>
              <a:rPr lang="en-US" sz="1200" dirty="0">
                <a:solidFill>
                  <a:schemeClr val="tx1"/>
                </a:solidFill>
              </a:rPr>
              <a:t>&gt; Restaurants</a:t>
            </a:r>
            <a:br>
              <a:rPr lang="en-US" sz="1200" dirty="0">
                <a:solidFill>
                  <a:schemeClr val="tx1"/>
                </a:solidFill>
              </a:rPr>
            </a:br>
            <a:r>
              <a:rPr lang="en-US" sz="1200" dirty="0">
                <a:solidFill>
                  <a:schemeClr val="tx1"/>
                </a:solidFill>
              </a:rPr>
              <a:t>&gt; Hotels</a:t>
            </a:r>
            <a:br>
              <a:rPr lang="en-US" sz="1200" dirty="0">
                <a:solidFill>
                  <a:schemeClr val="tx1"/>
                </a:solidFill>
              </a:rPr>
            </a:br>
            <a:r>
              <a:rPr lang="en-US" sz="1200" dirty="0">
                <a:solidFill>
                  <a:schemeClr val="tx1"/>
                </a:solidFill>
              </a:rPr>
              <a:t>&gt; Pharmacies</a:t>
            </a:r>
            <a:br>
              <a:rPr lang="en-US" sz="1200" dirty="0">
                <a:solidFill>
                  <a:schemeClr val="tx1"/>
                </a:solidFill>
              </a:rPr>
            </a:br>
            <a:r>
              <a:rPr lang="en-US" sz="1200" dirty="0">
                <a:solidFill>
                  <a:schemeClr val="tx1"/>
                </a:solidFill>
              </a:rPr>
              <a:t>&gt; Convenience Stores</a:t>
            </a:r>
            <a:br>
              <a:rPr lang="en-US" sz="1200" dirty="0">
                <a:solidFill>
                  <a:schemeClr val="tx1"/>
                </a:solidFill>
              </a:rPr>
            </a:br>
            <a:r>
              <a:rPr lang="en-US" sz="1200" dirty="0">
                <a:solidFill>
                  <a:schemeClr val="tx1"/>
                </a:solidFill>
              </a:rPr>
              <a:t>&gt; Restrooms</a:t>
            </a:r>
          </a:p>
          <a:p>
            <a:br>
              <a:rPr lang="en-US" sz="1200" dirty="0">
                <a:solidFill>
                  <a:schemeClr val="tx1"/>
                </a:solidFill>
              </a:rPr>
            </a:br>
            <a:r>
              <a:rPr lang="en-US" sz="1200" dirty="0">
                <a:solidFill>
                  <a:schemeClr val="tx1"/>
                </a:solidFill>
              </a:rPr>
              <a:t>Evaluate places using multiple parameters (distance, cost, quality, etc.)</a:t>
            </a:r>
          </a:p>
          <a:p>
            <a:br>
              <a:rPr lang="en-US" sz="1200" dirty="0">
                <a:solidFill>
                  <a:schemeClr val="tx1"/>
                </a:solidFill>
              </a:rPr>
            </a:br>
            <a:r>
              <a:rPr lang="en-US" sz="1200" b="1" dirty="0">
                <a:solidFill>
                  <a:srgbClr val="FDE68A"/>
                </a:solidFill>
              </a:rPr>
              <a:t>Generate:</a:t>
            </a:r>
          </a:p>
          <a:p>
            <a:br>
              <a:rPr lang="en-US" sz="1200" dirty="0">
                <a:solidFill>
                  <a:schemeClr val="tx1"/>
                </a:solidFill>
              </a:rPr>
            </a:br>
            <a:r>
              <a:rPr lang="en-US" sz="1200" dirty="0">
                <a:solidFill>
                  <a:schemeClr val="tx1"/>
                </a:solidFill>
              </a:rPr>
              <a:t>Numerical Score (0–100)</a:t>
            </a:r>
            <a:br>
              <a:rPr lang="en-US" sz="1200" dirty="0">
                <a:solidFill>
                  <a:schemeClr val="tx1"/>
                </a:solidFill>
              </a:rPr>
            </a:br>
            <a:r>
              <a:rPr lang="en-US" sz="1200" dirty="0">
                <a:solidFill>
                  <a:schemeClr val="tx1"/>
                </a:solidFill>
              </a:rPr>
              <a:t>Human-friendly result (Good, Very Good, etc.)</a:t>
            </a:r>
            <a:br>
              <a:rPr lang="en-US" dirty="0">
                <a:solidFill>
                  <a:schemeClr val="tx1"/>
                </a:solidFill>
              </a:rPr>
            </a:br>
            <a:endParaRPr lang="en-IN" dirty="0">
              <a:solidFill>
                <a:schemeClr val="tx1"/>
              </a:solidFill>
            </a:endParaRPr>
          </a:p>
        </p:txBody>
      </p:sp>
    </p:spTree>
    <p:extLst>
      <p:ext uri="{BB962C8B-B14F-4D97-AF65-F5344CB8AC3E}">
        <p14:creationId xmlns:p14="http://schemas.microsoft.com/office/powerpoint/2010/main" val="2538555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1BDD13D9-AC05-9689-FCE8-8C88B6DBB85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EF8E3B2-EBA0-1AFA-CAE1-5E3261EEFB0C}"/>
              </a:ext>
            </a:extLst>
          </p:cNvPr>
          <p:cNvSpPr txBox="1"/>
          <p:nvPr/>
        </p:nvSpPr>
        <p:spPr>
          <a:xfrm>
            <a:off x="365760" y="220980"/>
            <a:ext cx="8595360" cy="2693045"/>
          </a:xfrm>
          <a:prstGeom prst="rect">
            <a:avLst/>
          </a:prstGeom>
          <a:noFill/>
        </p:spPr>
        <p:txBody>
          <a:bodyPr wrap="square">
            <a:spAutoFit/>
          </a:bodyPr>
          <a:lstStyle/>
          <a:p>
            <a:r>
              <a:rPr lang="en-US" sz="3200" b="1" dirty="0">
                <a:solidFill>
                  <a:srgbClr val="00B0F0"/>
                </a:solidFill>
              </a:rPr>
              <a:t>Data Collection &amp; Parameters</a:t>
            </a:r>
          </a:p>
          <a:p>
            <a:pPr>
              <a:spcAft>
                <a:spcPts val="1000"/>
              </a:spcAft>
            </a:pPr>
            <a:br>
              <a:rPr lang="en-US" sz="1600" dirty="0">
                <a:solidFill>
                  <a:srgbClr val="FCE5CD"/>
                </a:solidFill>
              </a:rPr>
            </a:br>
            <a:r>
              <a:rPr lang="en-US" sz="1200" dirty="0">
                <a:solidFill>
                  <a:schemeClr val="tx1"/>
                </a:solidFill>
              </a:rPr>
              <a:t>The dataset for this project is collected from multiple reliable sources to ensure comprehensive coverage of real-world locations. Geographic data such as location coordinates, place types, and basic details are obtained using OpenStreetMap (OSM). Additional information such as user ratings and reviews is incorporated from Google Maps to enhance decision-making. The collected data is then processed and structured to extract relevant parameters required for the fuzzy logic system.</a:t>
            </a:r>
            <a:br>
              <a:rPr lang="en-US" sz="1200" dirty="0">
                <a:solidFill>
                  <a:schemeClr val="tx1"/>
                </a:solidFill>
              </a:rPr>
            </a:br>
            <a:br>
              <a:rPr lang="en-US" sz="1200" dirty="0">
                <a:solidFill>
                  <a:schemeClr val="tx1"/>
                </a:solidFill>
              </a:rPr>
            </a:br>
            <a:r>
              <a:rPr lang="en-US" sz="1200" b="1" dirty="0">
                <a:solidFill>
                  <a:schemeClr val="tx1"/>
                </a:solidFill>
              </a:rPr>
              <a:t>OpenStreetMap (OSM API) </a:t>
            </a:r>
            <a:r>
              <a:rPr lang="en-US" sz="1200" dirty="0">
                <a:solidFill>
                  <a:schemeClr val="tx1"/>
                </a:solidFill>
              </a:rPr>
              <a:t>— location data (latitude, longitude, place type)</a:t>
            </a:r>
            <a:br>
              <a:rPr lang="en-US" sz="1200" dirty="0">
                <a:solidFill>
                  <a:schemeClr val="tx1"/>
                </a:solidFill>
              </a:rPr>
            </a:br>
            <a:r>
              <a:rPr lang="en-US" sz="1200" b="1" dirty="0">
                <a:solidFill>
                  <a:schemeClr val="tx1"/>
                </a:solidFill>
              </a:rPr>
              <a:t>Google Maps </a:t>
            </a:r>
            <a:r>
              <a:rPr lang="en-US" sz="1200" dirty="0">
                <a:solidFill>
                  <a:schemeClr val="tx1"/>
                </a:solidFill>
              </a:rPr>
              <a:t>— ratings, reviews, and popularity indicators</a:t>
            </a:r>
            <a:br>
              <a:rPr lang="en-US" sz="1200" dirty="0">
                <a:solidFill>
                  <a:schemeClr val="tx1"/>
                </a:solidFill>
              </a:rPr>
            </a:br>
            <a:r>
              <a:rPr lang="en-US" sz="1200" b="1" dirty="0">
                <a:solidFill>
                  <a:schemeClr val="tx1"/>
                </a:solidFill>
              </a:rPr>
              <a:t>Manually generated / simulated data </a:t>
            </a:r>
            <a:r>
              <a:rPr lang="en-US" sz="1200" dirty="0">
                <a:solidFill>
                  <a:schemeClr val="tx1"/>
                </a:solidFill>
              </a:rPr>
              <a:t>— for parameters not directly available</a:t>
            </a:r>
            <a:br>
              <a:rPr lang="en-US" sz="1600" dirty="0"/>
            </a:br>
            <a:endParaRPr lang="en-IN" sz="900" dirty="0">
              <a:solidFill>
                <a:schemeClr val="tx1"/>
              </a:solidFill>
            </a:endParaRPr>
          </a:p>
        </p:txBody>
      </p:sp>
      <p:pic>
        <p:nvPicPr>
          <p:cNvPr id="5" name="Picture 4">
            <a:extLst>
              <a:ext uri="{FF2B5EF4-FFF2-40B4-BE49-F238E27FC236}">
                <a16:creationId xmlns:a16="http://schemas.microsoft.com/office/drawing/2014/main" id="{596AA5F6-9347-8CB2-A5FA-1E388C091311}"/>
              </a:ext>
            </a:extLst>
          </p:cNvPr>
          <p:cNvPicPr>
            <a:picLocks noChangeAspect="1"/>
          </p:cNvPicPr>
          <p:nvPr/>
        </p:nvPicPr>
        <p:blipFill>
          <a:blip r:embed="rId3"/>
          <a:stretch>
            <a:fillRect/>
          </a:stretch>
        </p:blipFill>
        <p:spPr>
          <a:xfrm>
            <a:off x="1427579" y="2781300"/>
            <a:ext cx="5624378" cy="2024278"/>
          </a:xfrm>
          <a:prstGeom prst="rect">
            <a:avLst/>
          </a:prstGeom>
        </p:spPr>
      </p:pic>
    </p:spTree>
    <p:extLst>
      <p:ext uri="{BB962C8B-B14F-4D97-AF65-F5344CB8AC3E}">
        <p14:creationId xmlns:p14="http://schemas.microsoft.com/office/powerpoint/2010/main" val="954244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516D6F0D-5D42-A934-36A6-FE300CE6409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8AF52FD-A3DA-F149-B01D-4B84D4FCB875}"/>
              </a:ext>
            </a:extLst>
          </p:cNvPr>
          <p:cNvSpPr txBox="1"/>
          <p:nvPr/>
        </p:nvSpPr>
        <p:spPr>
          <a:xfrm>
            <a:off x="365760" y="220980"/>
            <a:ext cx="8595360" cy="4421723"/>
          </a:xfrm>
          <a:prstGeom prst="rect">
            <a:avLst/>
          </a:prstGeom>
          <a:noFill/>
        </p:spPr>
        <p:txBody>
          <a:bodyPr wrap="square">
            <a:spAutoFit/>
          </a:bodyPr>
          <a:lstStyle/>
          <a:p>
            <a:pPr>
              <a:spcAft>
                <a:spcPts val="1000"/>
              </a:spcAft>
            </a:pPr>
            <a:r>
              <a:rPr lang="en-IN" sz="3200" b="1" dirty="0">
                <a:solidFill>
                  <a:srgbClr val="00B0F0"/>
                </a:solidFill>
              </a:rPr>
              <a:t>Data Cleaning &amp; Normalization</a:t>
            </a:r>
            <a:endParaRPr lang="en-IN" sz="3600" dirty="0">
              <a:solidFill>
                <a:srgbClr val="00B0F0"/>
              </a:solidFill>
            </a:endParaRPr>
          </a:p>
          <a:p>
            <a:r>
              <a:rPr lang="en-US" sz="1200" dirty="0">
                <a:solidFill>
                  <a:schemeClr val="tx1"/>
                </a:solidFill>
              </a:rPr>
              <a:t>The collected data from multiple sources may contain missing values, inconsistencies, and different formats. Therefore, data cleaning is performed to remove duplicates, handle missing entries, and ensure consistency across all attributes. After cleaning, normalization is applied to convert all parameters into a common scale of 0 to 10. This standardization allows fair comparison and enables effective processing in the fuzzy logic system.</a:t>
            </a:r>
            <a:br>
              <a:rPr lang="en-US" sz="1200" dirty="0">
                <a:solidFill>
                  <a:schemeClr val="tx1"/>
                </a:solidFill>
              </a:rPr>
            </a:br>
            <a:br>
              <a:rPr lang="en-US" sz="1200" dirty="0">
                <a:solidFill>
                  <a:schemeClr val="tx1"/>
                </a:solidFill>
              </a:rPr>
            </a:br>
            <a:r>
              <a:rPr lang="en-US" sz="1200" b="1" dirty="0">
                <a:solidFill>
                  <a:srgbClr val="FDE68A"/>
                </a:solidFill>
              </a:rPr>
              <a:t>Data Cleaning Steps:</a:t>
            </a:r>
            <a:br>
              <a:rPr lang="en-US" sz="1200" b="1" dirty="0">
                <a:solidFill>
                  <a:schemeClr val="tx1"/>
                </a:solidFill>
              </a:rPr>
            </a:br>
            <a:br>
              <a:rPr lang="en-US" sz="1200" dirty="0">
                <a:solidFill>
                  <a:schemeClr val="tx1"/>
                </a:solidFill>
              </a:rPr>
            </a:br>
            <a:r>
              <a:rPr lang="en-US" sz="1200" dirty="0">
                <a:solidFill>
                  <a:schemeClr val="tx1"/>
                </a:solidFill>
              </a:rPr>
              <a:t>&gt; Removed duplicate entries</a:t>
            </a:r>
            <a:br>
              <a:rPr lang="en-US" sz="1200" dirty="0">
                <a:solidFill>
                  <a:schemeClr val="tx1"/>
                </a:solidFill>
              </a:rPr>
            </a:br>
            <a:r>
              <a:rPr lang="en-US" sz="1200" dirty="0">
                <a:solidFill>
                  <a:schemeClr val="tx1"/>
                </a:solidFill>
              </a:rPr>
              <a:t>&gt; Handled missing values (filled or filtered)</a:t>
            </a:r>
            <a:br>
              <a:rPr lang="en-US" sz="1200" dirty="0">
                <a:solidFill>
                  <a:schemeClr val="tx1"/>
                </a:solidFill>
              </a:rPr>
            </a:br>
            <a:r>
              <a:rPr lang="en-US" sz="1200" dirty="0">
                <a:solidFill>
                  <a:schemeClr val="tx1"/>
                </a:solidFill>
              </a:rPr>
              <a:t>&gt; Standardized formats (e.g., ratings, distances)</a:t>
            </a:r>
            <a:br>
              <a:rPr lang="en-US" sz="1200" dirty="0">
                <a:solidFill>
                  <a:schemeClr val="tx1"/>
                </a:solidFill>
              </a:rPr>
            </a:br>
            <a:r>
              <a:rPr lang="en-US" sz="1200" dirty="0">
                <a:solidFill>
                  <a:schemeClr val="tx1"/>
                </a:solidFill>
              </a:rPr>
              <a:t>&gt; Ensured valid latitude and longitude values</a:t>
            </a:r>
            <a:br>
              <a:rPr lang="en-US" sz="1200" dirty="0">
                <a:solidFill>
                  <a:schemeClr val="tx1"/>
                </a:solidFill>
              </a:rPr>
            </a:br>
            <a:r>
              <a:rPr lang="en-US" sz="1200" dirty="0">
                <a:solidFill>
                  <a:schemeClr val="tx1"/>
                </a:solidFill>
              </a:rPr>
              <a:t>&gt; Normalization (0–10 Scale)</a:t>
            </a:r>
            <a:br>
              <a:rPr lang="en-US" sz="1200" dirty="0">
                <a:solidFill>
                  <a:schemeClr val="tx1"/>
                </a:solidFill>
              </a:rPr>
            </a:br>
            <a:br>
              <a:rPr lang="en-US" sz="1200" dirty="0">
                <a:solidFill>
                  <a:schemeClr val="tx1"/>
                </a:solidFill>
              </a:rPr>
            </a:br>
            <a:r>
              <a:rPr lang="en-US" sz="1200" b="1" dirty="0">
                <a:solidFill>
                  <a:srgbClr val="FDE68A"/>
                </a:solidFill>
              </a:rPr>
              <a:t>Different parameters have different units:</a:t>
            </a:r>
            <a:br>
              <a:rPr lang="en-US" sz="1200" dirty="0">
                <a:solidFill>
                  <a:schemeClr val="tx1"/>
                </a:solidFill>
              </a:rPr>
            </a:br>
            <a:br>
              <a:rPr lang="en-US" sz="1200" dirty="0">
                <a:solidFill>
                  <a:schemeClr val="tx1"/>
                </a:solidFill>
              </a:rPr>
            </a:br>
            <a:r>
              <a:rPr lang="en-US" sz="1200" dirty="0">
                <a:solidFill>
                  <a:schemeClr val="tx1"/>
                </a:solidFill>
              </a:rPr>
              <a:t>Distance → kilometers</a:t>
            </a:r>
            <a:br>
              <a:rPr lang="en-US" sz="1200" dirty="0">
                <a:solidFill>
                  <a:schemeClr val="tx1"/>
                </a:solidFill>
              </a:rPr>
            </a:br>
            <a:r>
              <a:rPr lang="en-US" sz="1200" dirty="0">
                <a:solidFill>
                  <a:schemeClr val="tx1"/>
                </a:solidFill>
              </a:rPr>
              <a:t>Cost → currency</a:t>
            </a:r>
            <a:br>
              <a:rPr lang="en-US" sz="1200" dirty="0">
                <a:solidFill>
                  <a:schemeClr val="tx1"/>
                </a:solidFill>
              </a:rPr>
            </a:br>
            <a:r>
              <a:rPr lang="en-US" sz="1200" dirty="0">
                <a:solidFill>
                  <a:schemeClr val="tx1"/>
                </a:solidFill>
              </a:rPr>
              <a:t>Ratings → 1–5 scale</a:t>
            </a:r>
          </a:p>
          <a:p>
            <a:endParaRPr lang="en-US" sz="1200" dirty="0">
              <a:solidFill>
                <a:schemeClr val="tx1"/>
              </a:solidFill>
            </a:endParaRPr>
          </a:p>
          <a:p>
            <a:r>
              <a:rPr lang="en-US" sz="1200" b="1" dirty="0">
                <a:solidFill>
                  <a:srgbClr val="FDE68A"/>
                </a:solidFill>
              </a:rPr>
              <a:t>we convert everything to:       </a:t>
            </a:r>
            <a:r>
              <a:rPr lang="en-US" sz="1200" dirty="0">
                <a:solidFill>
                  <a:schemeClr val="tx1"/>
                </a:solidFill>
              </a:rPr>
              <a:t>0 - worst 10 - best</a:t>
            </a:r>
            <a:br>
              <a:rPr lang="en-US" sz="3600" dirty="0"/>
            </a:br>
            <a:endParaRPr lang="en-IN" sz="100" dirty="0">
              <a:solidFill>
                <a:schemeClr val="tx1"/>
              </a:solidFill>
            </a:endParaRPr>
          </a:p>
        </p:txBody>
      </p:sp>
    </p:spTree>
    <p:extLst>
      <p:ext uri="{BB962C8B-B14F-4D97-AF65-F5344CB8AC3E}">
        <p14:creationId xmlns:p14="http://schemas.microsoft.com/office/powerpoint/2010/main" val="946144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2B894E7E-A022-1D16-AE10-20E8879C58A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0C950C3-D4C0-B042-F892-61DEC0DAC802}"/>
              </a:ext>
            </a:extLst>
          </p:cNvPr>
          <p:cNvSpPr/>
          <p:nvPr/>
        </p:nvSpPr>
        <p:spPr>
          <a:xfrm>
            <a:off x="2880360" y="1645920"/>
            <a:ext cx="1264920" cy="3962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A3164398-782A-B204-AAC3-64B636CB10CC}"/>
              </a:ext>
            </a:extLst>
          </p:cNvPr>
          <p:cNvSpPr txBox="1"/>
          <p:nvPr/>
        </p:nvSpPr>
        <p:spPr>
          <a:xfrm>
            <a:off x="365760" y="220980"/>
            <a:ext cx="8412480" cy="4724370"/>
          </a:xfrm>
          <a:prstGeom prst="rect">
            <a:avLst/>
          </a:prstGeom>
          <a:noFill/>
        </p:spPr>
        <p:txBody>
          <a:bodyPr wrap="square">
            <a:spAutoFit/>
          </a:bodyPr>
          <a:lstStyle/>
          <a:p>
            <a:r>
              <a:rPr lang="en-IN" sz="3200" b="1" dirty="0">
                <a:solidFill>
                  <a:srgbClr val="00B0F0"/>
                </a:solidFill>
              </a:rPr>
              <a:t>Fuzzification &amp; Membership Functions</a:t>
            </a:r>
          </a:p>
          <a:p>
            <a:br>
              <a:rPr lang="en-IN" b="1" dirty="0">
                <a:solidFill>
                  <a:schemeClr val="tx1"/>
                </a:solidFill>
              </a:rPr>
            </a:br>
            <a:r>
              <a:rPr lang="en-US" sz="1200" dirty="0">
                <a:solidFill>
                  <a:schemeClr val="tx1"/>
                </a:solidFill>
              </a:rPr>
              <a:t>In this step, normalized numerical values are converted into fuzzy values such as Low, Medium, and High using membership functions. Each input value does not belong to just one </a:t>
            </a:r>
            <a:r>
              <a:rPr lang="en-US" sz="1200" dirty="0" err="1">
                <a:solidFill>
                  <a:schemeClr val="tx1"/>
                </a:solidFill>
              </a:rPr>
              <a:t>category,but</a:t>
            </a:r>
            <a:r>
              <a:rPr lang="en-US" sz="1200" dirty="0">
                <a:solidFill>
                  <a:schemeClr val="tx1"/>
                </a:solidFill>
              </a:rPr>
              <a:t> can partially belong to multiple categories. This allows the system to handle uncertainty and mimic human decision-making.</a:t>
            </a:r>
          </a:p>
          <a:p>
            <a:br>
              <a:rPr lang="en-US" sz="1200" dirty="0">
                <a:solidFill>
                  <a:schemeClr val="tx1"/>
                </a:solidFill>
              </a:rPr>
            </a:br>
            <a:r>
              <a:rPr lang="en-US" sz="1200" dirty="0">
                <a:solidFill>
                  <a:schemeClr val="tx1"/>
                </a:solidFill>
              </a:rPr>
              <a:t>                                                             </a:t>
            </a:r>
            <a:r>
              <a:rPr lang="en-US" b="1" dirty="0">
                <a:solidFill>
                  <a:schemeClr val="tx1"/>
                </a:solidFill>
              </a:rPr>
              <a:t>μ(x) ∈ [0,1]</a:t>
            </a:r>
          </a:p>
          <a:p>
            <a:endParaRPr lang="en-US" sz="1200" b="1" dirty="0">
              <a:solidFill>
                <a:schemeClr val="tx1"/>
              </a:solidFill>
            </a:endParaRPr>
          </a:p>
          <a:p>
            <a:br>
              <a:rPr lang="en-US" sz="1200" dirty="0">
                <a:solidFill>
                  <a:schemeClr val="tx1"/>
                </a:solidFill>
              </a:rPr>
            </a:br>
            <a:r>
              <a:rPr lang="en-US" sz="1200" dirty="0">
                <a:solidFill>
                  <a:schemeClr val="tx1"/>
                </a:solidFill>
              </a:rPr>
              <a:t>&gt; Uses triangular membership functions</a:t>
            </a:r>
            <a:br>
              <a:rPr lang="en-US" sz="1200" dirty="0">
                <a:solidFill>
                  <a:schemeClr val="tx1"/>
                </a:solidFill>
              </a:rPr>
            </a:br>
            <a:r>
              <a:rPr lang="en-US" sz="1200" dirty="0">
                <a:solidFill>
                  <a:schemeClr val="tx1"/>
                </a:solidFill>
              </a:rPr>
              <a:t>&gt; Output values range from 0 to 1</a:t>
            </a:r>
            <a:br>
              <a:rPr lang="en-US" sz="1200" dirty="0">
                <a:solidFill>
                  <a:schemeClr val="tx1"/>
                </a:solidFill>
              </a:rPr>
            </a:br>
            <a:r>
              <a:rPr lang="en-US" sz="1200" dirty="0">
                <a:solidFill>
                  <a:schemeClr val="tx1"/>
                </a:solidFill>
              </a:rPr>
              <a:t>&gt; One input → multiple memberships</a:t>
            </a:r>
            <a:br>
              <a:rPr lang="en-US" sz="1200" dirty="0">
                <a:solidFill>
                  <a:schemeClr val="tx1"/>
                </a:solidFill>
              </a:rPr>
            </a:br>
            <a:r>
              <a:rPr lang="en-US" sz="1200" dirty="0">
                <a:solidFill>
                  <a:schemeClr val="tx1"/>
                </a:solidFill>
              </a:rPr>
              <a:t>&gt; Enables smooth transitions between categories</a:t>
            </a:r>
            <a:br>
              <a:rPr lang="en-US" sz="1200" dirty="0">
                <a:solidFill>
                  <a:schemeClr val="tx1"/>
                </a:solidFill>
              </a:rPr>
            </a:br>
            <a:br>
              <a:rPr lang="en-US" sz="1200" dirty="0">
                <a:solidFill>
                  <a:schemeClr val="tx1"/>
                </a:solidFill>
              </a:rPr>
            </a:br>
            <a:r>
              <a:rPr lang="en-US" sz="1200" dirty="0">
                <a:solidFill>
                  <a:schemeClr val="tx1"/>
                </a:solidFill>
              </a:rPr>
              <a:t>Each value (0–10) is mapped using the graph:</a:t>
            </a:r>
            <a:br>
              <a:rPr lang="en-US" sz="1200" dirty="0">
                <a:solidFill>
                  <a:schemeClr val="tx1"/>
                </a:solidFill>
              </a:rPr>
            </a:br>
            <a:br>
              <a:rPr lang="en-US" sz="1200" dirty="0">
                <a:solidFill>
                  <a:schemeClr val="tx1"/>
                </a:solidFill>
              </a:rPr>
            </a:br>
            <a:r>
              <a:rPr lang="en-US" sz="1200" dirty="0">
                <a:solidFill>
                  <a:schemeClr val="tx1"/>
                </a:solidFill>
              </a:rPr>
              <a:t>Example: Taste = 8</a:t>
            </a:r>
            <a:br>
              <a:rPr lang="en-US" sz="1200" dirty="0">
                <a:solidFill>
                  <a:schemeClr val="tx1"/>
                </a:solidFill>
              </a:rPr>
            </a:br>
            <a:br>
              <a:rPr lang="en-US" sz="1200" dirty="0">
                <a:solidFill>
                  <a:schemeClr val="tx1"/>
                </a:solidFill>
              </a:rPr>
            </a:br>
            <a:r>
              <a:rPr lang="en-US" sz="1200" b="1" dirty="0">
                <a:solidFill>
                  <a:srgbClr val="FDE68A"/>
                </a:solidFill>
              </a:rPr>
              <a:t>From the graph:</a:t>
            </a:r>
            <a:br>
              <a:rPr lang="en-US" sz="1200" dirty="0">
                <a:solidFill>
                  <a:schemeClr val="tx1"/>
                </a:solidFill>
              </a:rPr>
            </a:br>
            <a:br>
              <a:rPr lang="en-US" sz="1200" dirty="0">
                <a:solidFill>
                  <a:schemeClr val="tx1"/>
                </a:solidFill>
              </a:rPr>
            </a:br>
            <a:r>
              <a:rPr lang="en-US" sz="1200" dirty="0">
                <a:solidFill>
                  <a:schemeClr val="tx1"/>
                </a:solidFill>
              </a:rPr>
              <a:t>Bad (Low) → 0</a:t>
            </a:r>
            <a:br>
              <a:rPr lang="en-US" sz="1200" dirty="0">
                <a:solidFill>
                  <a:schemeClr val="tx1"/>
                </a:solidFill>
              </a:rPr>
            </a:br>
            <a:r>
              <a:rPr lang="en-US" sz="1200" dirty="0">
                <a:solidFill>
                  <a:schemeClr val="tx1"/>
                </a:solidFill>
              </a:rPr>
              <a:t>Okay (Medium) → ~0.3–0.4</a:t>
            </a:r>
            <a:br>
              <a:rPr lang="en-US" sz="1200" dirty="0">
                <a:solidFill>
                  <a:schemeClr val="tx1"/>
                </a:solidFill>
              </a:rPr>
            </a:br>
            <a:r>
              <a:rPr lang="en-US" sz="1200" dirty="0">
                <a:solidFill>
                  <a:schemeClr val="tx1"/>
                </a:solidFill>
              </a:rPr>
              <a:t>Delicious (High) → ~0.6–0.7</a:t>
            </a:r>
            <a:br>
              <a:rPr lang="en-US" dirty="0">
                <a:solidFill>
                  <a:schemeClr val="tx1"/>
                </a:solidFill>
              </a:rPr>
            </a:br>
            <a:endParaRPr lang="en-IN" sz="100" dirty="0">
              <a:solidFill>
                <a:schemeClr val="tx1"/>
              </a:solidFill>
            </a:endParaRPr>
          </a:p>
        </p:txBody>
      </p:sp>
      <p:pic>
        <p:nvPicPr>
          <p:cNvPr id="3" name="Picture 2">
            <a:extLst>
              <a:ext uri="{FF2B5EF4-FFF2-40B4-BE49-F238E27FC236}">
                <a16:creationId xmlns:a16="http://schemas.microsoft.com/office/drawing/2014/main" id="{4E3B9088-E20C-0842-0CBC-66D25E950786}"/>
              </a:ext>
            </a:extLst>
          </p:cNvPr>
          <p:cNvPicPr>
            <a:picLocks noChangeAspect="1"/>
          </p:cNvPicPr>
          <p:nvPr/>
        </p:nvPicPr>
        <p:blipFill>
          <a:blip r:embed="rId3"/>
          <a:stretch>
            <a:fillRect/>
          </a:stretch>
        </p:blipFill>
        <p:spPr>
          <a:xfrm>
            <a:off x="4639545" y="1752600"/>
            <a:ext cx="4253835" cy="2628900"/>
          </a:xfrm>
          <a:prstGeom prst="rect">
            <a:avLst/>
          </a:prstGeom>
        </p:spPr>
      </p:pic>
    </p:spTree>
    <p:extLst>
      <p:ext uri="{BB962C8B-B14F-4D97-AF65-F5344CB8AC3E}">
        <p14:creationId xmlns:p14="http://schemas.microsoft.com/office/powerpoint/2010/main" val="4238291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E5B7313A-2FF8-380F-0F07-8FFA97DA0F6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58FCA18-C6C1-9301-891D-0E075DD67AC5}"/>
              </a:ext>
            </a:extLst>
          </p:cNvPr>
          <p:cNvSpPr txBox="1"/>
          <p:nvPr/>
        </p:nvSpPr>
        <p:spPr>
          <a:xfrm>
            <a:off x="365760" y="220980"/>
            <a:ext cx="8412480" cy="584775"/>
          </a:xfrm>
          <a:prstGeom prst="rect">
            <a:avLst/>
          </a:prstGeom>
          <a:noFill/>
        </p:spPr>
        <p:txBody>
          <a:bodyPr wrap="square">
            <a:spAutoFit/>
          </a:bodyPr>
          <a:lstStyle/>
          <a:p>
            <a:pPr>
              <a:spcBef>
                <a:spcPts val="2000"/>
              </a:spcBef>
            </a:pPr>
            <a:r>
              <a:rPr lang="en-US" sz="3200" b="1" dirty="0">
                <a:solidFill>
                  <a:schemeClr val="accent4"/>
                </a:solidFill>
              </a:rPr>
              <a:t>Fuzzy Inference &amp; Dynamic Priority Engine</a:t>
            </a:r>
          </a:p>
        </p:txBody>
      </p:sp>
      <p:sp>
        <p:nvSpPr>
          <p:cNvPr id="2" name="TextBox 1">
            <a:extLst>
              <a:ext uri="{FF2B5EF4-FFF2-40B4-BE49-F238E27FC236}">
                <a16:creationId xmlns:a16="http://schemas.microsoft.com/office/drawing/2014/main" id="{FCECF101-0375-E491-1CBB-265A495DADC4}"/>
              </a:ext>
            </a:extLst>
          </p:cNvPr>
          <p:cNvSpPr txBox="1"/>
          <p:nvPr/>
        </p:nvSpPr>
        <p:spPr>
          <a:xfrm>
            <a:off x="434340" y="922020"/>
            <a:ext cx="8412480" cy="4401205"/>
          </a:xfrm>
          <a:prstGeom prst="rect">
            <a:avLst/>
          </a:prstGeom>
          <a:noFill/>
        </p:spPr>
        <p:txBody>
          <a:bodyPr wrap="square" rtlCol="0">
            <a:spAutoFit/>
          </a:bodyPr>
          <a:lstStyle/>
          <a:p>
            <a:r>
              <a:rPr lang="en-US" b="1" dirty="0">
                <a:solidFill>
                  <a:srgbClr val="FDE68A"/>
                </a:solidFill>
              </a:rPr>
              <a:t>Rule Base</a:t>
            </a:r>
          </a:p>
          <a:p>
            <a:br>
              <a:rPr lang="en-US" sz="1200" dirty="0">
                <a:solidFill>
                  <a:schemeClr val="tx1"/>
                </a:solidFill>
              </a:rPr>
            </a:br>
            <a:r>
              <a:rPr lang="en-US" sz="1200" dirty="0">
                <a:solidFill>
                  <a:schemeClr val="tx1"/>
                </a:solidFill>
              </a:rPr>
              <a:t>The fuzzy rule base consists of a set of IF–THEN rules that model human decision-making. These rules combine different input parameters such as distance, cost, quality, taste, and ambience to determine the overall suitability of a place.</a:t>
            </a:r>
            <a:br>
              <a:rPr lang="en-US" sz="1200" dirty="0">
                <a:solidFill>
                  <a:schemeClr val="tx1"/>
                </a:solidFill>
              </a:rPr>
            </a:br>
            <a:br>
              <a:rPr lang="en-US" sz="1200" dirty="0">
                <a:solidFill>
                  <a:schemeClr val="tx1"/>
                </a:solidFill>
              </a:rPr>
            </a:br>
            <a:r>
              <a:rPr lang="en-US" sz="1200" dirty="0">
                <a:solidFill>
                  <a:schemeClr val="tx1"/>
                </a:solidFill>
              </a:rPr>
              <a:t>Each parameter contributes uniquely before being multiplied by context weights.</a:t>
            </a:r>
            <a:br>
              <a:rPr lang="en-US" sz="1200" dirty="0">
                <a:solidFill>
                  <a:schemeClr val="tx1"/>
                </a:solidFill>
              </a:rPr>
            </a:br>
            <a:r>
              <a:rPr lang="en-US" sz="1200" dirty="0">
                <a:solidFill>
                  <a:schemeClr val="tx1"/>
                </a:solidFill>
              </a:rPr>
              <a:t>IF Cost = High AND Distance = High → 30  </a:t>
            </a:r>
            <a:br>
              <a:rPr lang="en-US" sz="1200" dirty="0">
                <a:solidFill>
                  <a:schemeClr val="tx1"/>
                </a:solidFill>
              </a:rPr>
            </a:br>
            <a:r>
              <a:rPr lang="en-US" sz="1200" dirty="0">
                <a:solidFill>
                  <a:schemeClr val="tx1"/>
                </a:solidFill>
              </a:rPr>
              <a:t>Each parameter contributes uniquely before being multiplied by context weights.</a:t>
            </a:r>
            <a:br>
              <a:rPr lang="en-US" sz="1200" dirty="0">
                <a:solidFill>
                  <a:schemeClr val="tx1"/>
                </a:solidFill>
              </a:rPr>
            </a:br>
            <a:r>
              <a:rPr lang="en-US" sz="1200" dirty="0">
                <a:solidFill>
                  <a:schemeClr val="tx1"/>
                </a:solidFill>
              </a:rPr>
              <a:t>Each parameter contributes uniquely before being multiplied by context weights.</a:t>
            </a:r>
            <a:br>
              <a:rPr lang="en-US" sz="1200" dirty="0">
                <a:solidFill>
                  <a:schemeClr val="tx1"/>
                </a:solidFill>
              </a:rPr>
            </a:br>
            <a:br>
              <a:rPr lang="en-US" sz="1200" dirty="0">
                <a:solidFill>
                  <a:schemeClr val="tx1"/>
                </a:solidFill>
              </a:rPr>
            </a:br>
            <a:r>
              <a:rPr lang="en-US" sz="1200" dirty="0">
                <a:solidFill>
                  <a:schemeClr val="tx1"/>
                </a:solidFill>
              </a:rPr>
              <a:t>Instead of rigid multi-condition matrices, the system individually maps parameters to Zero-Order constants.</a:t>
            </a:r>
            <a:br>
              <a:rPr lang="en-US" sz="1200" dirty="0">
                <a:solidFill>
                  <a:schemeClr val="tx1"/>
                </a:solidFill>
              </a:rPr>
            </a:br>
            <a:br>
              <a:rPr lang="en-US" sz="1200" dirty="0">
                <a:solidFill>
                  <a:schemeClr val="tx1"/>
                </a:solidFill>
              </a:rPr>
            </a:br>
            <a:r>
              <a:rPr lang="en-US" b="1" dirty="0">
                <a:solidFill>
                  <a:srgbClr val="FDE68A"/>
                </a:solidFill>
              </a:rPr>
              <a:t>Rule Evaluation</a:t>
            </a:r>
            <a:br>
              <a:rPr lang="en-US" sz="1200" dirty="0">
                <a:solidFill>
                  <a:schemeClr val="tx1"/>
                </a:solidFill>
              </a:rPr>
            </a:br>
            <a:br>
              <a:rPr lang="en-US" sz="1200" dirty="0">
                <a:solidFill>
                  <a:schemeClr val="tx1"/>
                </a:solidFill>
              </a:rPr>
            </a:br>
            <a:r>
              <a:rPr lang="en-US" sz="1200" dirty="0">
                <a:solidFill>
                  <a:schemeClr val="tx1"/>
                </a:solidFill>
              </a:rPr>
              <a:t>During rule evaluation, multiple rules are activated simultaneously based on the fuzzy input values. The engine applies dynamic weights scaled by the user's physical needs directly to the independent parameter scores.</a:t>
            </a:r>
            <a:br>
              <a:rPr lang="en-US" sz="1200" dirty="0">
                <a:solidFill>
                  <a:schemeClr val="tx1"/>
                </a:solidFill>
              </a:rPr>
            </a:br>
            <a:br>
              <a:rPr lang="en-US" sz="1200" dirty="0">
                <a:solidFill>
                  <a:schemeClr val="tx1"/>
                </a:solidFill>
              </a:rPr>
            </a:br>
            <a:r>
              <a:rPr lang="en-US" sz="1200" b="1" dirty="0">
                <a:solidFill>
                  <a:schemeClr val="tx1"/>
                </a:solidFill>
              </a:rPr>
              <a:t>Example</a:t>
            </a:r>
          </a:p>
          <a:p>
            <a:br>
              <a:rPr lang="en-US" sz="1200" dirty="0">
                <a:solidFill>
                  <a:schemeClr val="tx1"/>
                </a:solidFill>
              </a:rPr>
            </a:br>
            <a:r>
              <a:rPr lang="en-US" sz="1200" dirty="0">
                <a:solidFill>
                  <a:schemeClr val="tx1"/>
                </a:solidFill>
              </a:rPr>
              <a:t>Taste (High) = 0.9  </a:t>
            </a:r>
            <a:br>
              <a:rPr lang="en-US" sz="1200" dirty="0">
                <a:solidFill>
                  <a:schemeClr val="tx1"/>
                </a:solidFill>
              </a:rPr>
            </a:br>
            <a:r>
              <a:rPr lang="en-US" sz="1200" dirty="0">
                <a:solidFill>
                  <a:schemeClr val="tx1"/>
                </a:solidFill>
              </a:rPr>
              <a:t>Quality (High) = 0.8  </a:t>
            </a:r>
            <a:br>
              <a:rPr lang="en-US" sz="1200" dirty="0">
                <a:solidFill>
                  <a:schemeClr val="tx1"/>
                </a:solidFill>
              </a:rPr>
            </a:br>
            <a:br>
              <a:rPr lang="en-US" sz="1200" dirty="0">
                <a:solidFill>
                  <a:schemeClr val="tx1"/>
                </a:solidFill>
              </a:rPr>
            </a:br>
            <a:endParaRPr lang="en-IN" sz="1200" dirty="0"/>
          </a:p>
        </p:txBody>
      </p:sp>
      <p:sp>
        <p:nvSpPr>
          <p:cNvPr id="3" name="TextBox 2">
            <a:extLst>
              <a:ext uri="{FF2B5EF4-FFF2-40B4-BE49-F238E27FC236}">
                <a16:creationId xmlns:a16="http://schemas.microsoft.com/office/drawing/2014/main" id="{550B088A-69E5-4EEE-BE24-293DB93FD3C8}"/>
              </a:ext>
            </a:extLst>
          </p:cNvPr>
          <p:cNvSpPr txBox="1"/>
          <p:nvPr/>
        </p:nvSpPr>
        <p:spPr>
          <a:xfrm>
            <a:off x="2407920" y="4221480"/>
            <a:ext cx="5140960" cy="1184940"/>
          </a:xfrm>
          <a:prstGeom prst="rect">
            <a:avLst/>
          </a:prstGeom>
          <a:noFill/>
        </p:spPr>
        <p:txBody>
          <a:bodyPr wrap="square" rtlCol="0">
            <a:spAutoFit/>
          </a:bodyPr>
          <a:lstStyle/>
          <a:p>
            <a:r>
              <a:rPr lang="en-US" sz="1200" b="1" dirty="0">
                <a:solidFill>
                  <a:schemeClr val="tx1"/>
                </a:solidFill>
              </a:rPr>
              <a:t>Rule</a:t>
            </a:r>
          </a:p>
          <a:p>
            <a:br>
              <a:rPr lang="en-US" sz="1200" dirty="0">
                <a:solidFill>
                  <a:schemeClr val="tx1"/>
                </a:solidFill>
              </a:rPr>
            </a:br>
            <a:r>
              <a:rPr lang="en-US" sz="1200" dirty="0">
                <a:solidFill>
                  <a:schemeClr val="tx1"/>
                </a:solidFill>
              </a:rPr>
              <a:t>Each parameter contributes uniquely before being multiplied by context weights.</a:t>
            </a:r>
            <a:br>
              <a:rPr lang="en-US" sz="1200" dirty="0">
                <a:solidFill>
                  <a:schemeClr val="tx1"/>
                </a:solidFill>
              </a:rPr>
            </a:br>
            <a:br>
              <a:rPr lang="en-US" sz="1200" dirty="0">
                <a:solidFill>
                  <a:schemeClr val="tx1"/>
                </a:solidFill>
              </a:rPr>
            </a:br>
            <a:br>
              <a:rPr lang="en-US" sz="1000" dirty="0">
                <a:solidFill>
                  <a:schemeClr val="tx1"/>
                </a:solidFill>
              </a:rPr>
            </a:br>
            <a:endParaRPr lang="en-IN" sz="100" dirty="0">
              <a:solidFill>
                <a:schemeClr val="tx1"/>
              </a:solidFill>
            </a:endParaRPr>
          </a:p>
          <a:p>
            <a:endParaRPr lang="en-IN" sz="1200" dirty="0"/>
          </a:p>
        </p:txBody>
      </p:sp>
      <p:sp>
        <p:nvSpPr>
          <p:cNvPr id="4" name="TextBox 3">
            <a:extLst>
              <a:ext uri="{FF2B5EF4-FFF2-40B4-BE49-F238E27FC236}">
                <a16:creationId xmlns:a16="http://schemas.microsoft.com/office/drawing/2014/main" id="{CC7681A8-4068-0071-A111-2D23FCEDBBD4}"/>
              </a:ext>
            </a:extLst>
          </p:cNvPr>
          <p:cNvSpPr txBox="1"/>
          <p:nvPr/>
        </p:nvSpPr>
        <p:spPr>
          <a:xfrm>
            <a:off x="5289550" y="4221480"/>
            <a:ext cx="4206240" cy="646331"/>
          </a:xfrm>
          <a:prstGeom prst="rect">
            <a:avLst/>
          </a:prstGeom>
          <a:noFill/>
        </p:spPr>
        <p:txBody>
          <a:bodyPr wrap="square" rtlCol="0">
            <a:spAutoFit/>
          </a:bodyPr>
          <a:lstStyle/>
          <a:p>
            <a:r>
              <a:rPr lang="en-US" sz="1200" b="1" dirty="0">
                <a:solidFill>
                  <a:schemeClr val="tx1"/>
                </a:solidFill>
              </a:rPr>
              <a:t>Rule Strength:</a:t>
            </a:r>
          </a:p>
          <a:p>
            <a:br>
              <a:rPr lang="en-US" sz="1200" dirty="0">
                <a:solidFill>
                  <a:schemeClr val="tx1"/>
                </a:solidFill>
              </a:rPr>
            </a:br>
            <a:r>
              <a:rPr lang="en-US" sz="1200" dirty="0">
                <a:solidFill>
                  <a:schemeClr val="tx1"/>
                </a:solidFill>
              </a:rPr>
              <a:t>min(0.9, 0.8) = 0.8</a:t>
            </a:r>
            <a:endParaRPr lang="en-IN" sz="1200" dirty="0">
              <a:solidFill>
                <a:schemeClr val="tx1"/>
              </a:solidFill>
            </a:endParaRPr>
          </a:p>
        </p:txBody>
      </p:sp>
    </p:spTree>
    <p:extLst>
      <p:ext uri="{BB962C8B-B14F-4D97-AF65-F5344CB8AC3E}">
        <p14:creationId xmlns:p14="http://schemas.microsoft.com/office/powerpoint/2010/main" val="1781653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5CB9B6D7-B288-ECB2-B41B-3C4A729A733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23DF0FA-93EE-B139-6A2E-81EAB2EC93BB}"/>
              </a:ext>
            </a:extLst>
          </p:cNvPr>
          <p:cNvSpPr/>
          <p:nvPr/>
        </p:nvSpPr>
        <p:spPr>
          <a:xfrm>
            <a:off x="1630680" y="1600200"/>
            <a:ext cx="4602480" cy="4040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FE594DEC-95E6-4C85-164F-E1C152C6B48D}"/>
              </a:ext>
            </a:extLst>
          </p:cNvPr>
          <p:cNvSpPr/>
          <p:nvPr/>
        </p:nvSpPr>
        <p:spPr>
          <a:xfrm>
            <a:off x="2346960" y="3771900"/>
            <a:ext cx="3566160" cy="4040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E2FFA6A4-C990-6D7F-A83D-F48F3CDC07A1}"/>
              </a:ext>
            </a:extLst>
          </p:cNvPr>
          <p:cNvSpPr txBox="1"/>
          <p:nvPr/>
        </p:nvSpPr>
        <p:spPr>
          <a:xfrm>
            <a:off x="365760" y="220980"/>
            <a:ext cx="8412480" cy="3954929"/>
          </a:xfrm>
          <a:prstGeom prst="rect">
            <a:avLst/>
          </a:prstGeom>
          <a:noFill/>
        </p:spPr>
        <p:txBody>
          <a:bodyPr wrap="square">
            <a:spAutoFit/>
          </a:bodyPr>
          <a:lstStyle/>
          <a:p>
            <a:r>
              <a:rPr lang="en-IN" sz="3200" b="1" dirty="0">
                <a:solidFill>
                  <a:schemeClr val="accent4"/>
                </a:solidFill>
              </a:rPr>
              <a:t>Defuzzification</a:t>
            </a:r>
            <a:br>
              <a:rPr lang="en-IN" dirty="0">
                <a:solidFill>
                  <a:schemeClr val="tx1"/>
                </a:solidFill>
              </a:rPr>
            </a:br>
            <a:br>
              <a:rPr lang="en-IN" dirty="0">
                <a:solidFill>
                  <a:schemeClr val="tx1"/>
                </a:solidFill>
              </a:rPr>
            </a:br>
            <a:r>
              <a:rPr lang="en-US" sz="1200" dirty="0">
                <a:solidFill>
                  <a:schemeClr val="tx1"/>
                </a:solidFill>
              </a:rPr>
              <a:t>After rule evaluation, multiple rules produce outputs with different strengths. These outputs are combined using a defuzzification method to generate a single crisp value. This final score represents the overall suitability of the place.</a:t>
            </a:r>
            <a:br>
              <a:rPr lang="en-US" sz="1200" dirty="0">
                <a:solidFill>
                  <a:schemeClr val="tx1"/>
                </a:solidFill>
              </a:rPr>
            </a:br>
            <a:br>
              <a:rPr lang="en-US" sz="1200" dirty="0">
                <a:solidFill>
                  <a:schemeClr val="tx1"/>
                </a:solidFill>
              </a:rPr>
            </a:br>
            <a:r>
              <a:rPr lang="en-US" sz="1200" dirty="0">
                <a:solidFill>
                  <a:schemeClr val="tx1"/>
                </a:solidFill>
              </a:rPr>
              <a:t>                    </a:t>
            </a:r>
          </a:p>
          <a:p>
            <a:r>
              <a:rPr lang="en-US" sz="1200" dirty="0">
                <a:solidFill>
                  <a:schemeClr val="tx1"/>
                </a:solidFill>
              </a:rPr>
              <a:t>                             </a:t>
            </a:r>
            <a:r>
              <a:rPr lang="en-US" sz="1200" b="1" dirty="0">
                <a:solidFill>
                  <a:schemeClr val="tx1"/>
                </a:solidFill>
              </a:rPr>
              <a:t>Fuzzy Output → Linguistic Label and Single Numerical Value</a:t>
            </a:r>
            <a:br>
              <a:rPr lang="en-US" b="1" dirty="0">
                <a:solidFill>
                  <a:schemeClr val="tx1"/>
                </a:solidFill>
              </a:rPr>
            </a:br>
            <a:br>
              <a:rPr lang="en-US" b="1" dirty="0">
                <a:solidFill>
                  <a:schemeClr val="tx1"/>
                </a:solidFill>
              </a:rPr>
            </a:br>
            <a:br>
              <a:rPr lang="en-US" dirty="0">
                <a:solidFill>
                  <a:schemeClr val="tx1"/>
                </a:solidFill>
              </a:rPr>
            </a:br>
            <a:r>
              <a:rPr lang="en-US" sz="1600" b="1" dirty="0">
                <a:solidFill>
                  <a:srgbClr val="FDE68A"/>
                </a:solidFill>
              </a:rPr>
              <a:t>Weighted Average Method</a:t>
            </a:r>
            <a:br>
              <a:rPr lang="en-US" dirty="0">
                <a:solidFill>
                  <a:schemeClr val="tx1"/>
                </a:solidFill>
              </a:rPr>
            </a:br>
            <a:br>
              <a:rPr lang="en-US" dirty="0">
                <a:solidFill>
                  <a:schemeClr val="tx1"/>
                </a:solidFill>
              </a:rPr>
            </a:br>
            <a:br>
              <a:rPr lang="en-US" dirty="0">
                <a:solidFill>
                  <a:schemeClr val="tx1"/>
                </a:solidFill>
              </a:rPr>
            </a:br>
            <a:r>
              <a:rPr lang="en-US" sz="1200" dirty="0">
                <a:solidFill>
                  <a:schemeClr val="tx1"/>
                </a:solidFill>
              </a:rPr>
              <a:t>The weighted average method combines the outputs of all activated rules based on their strengths.</a:t>
            </a:r>
            <a:br>
              <a:rPr lang="en-US" sz="1200" dirty="0">
                <a:solidFill>
                  <a:schemeClr val="tx1"/>
                </a:solidFill>
              </a:rPr>
            </a:br>
            <a:r>
              <a:rPr lang="en-US" sz="1200" dirty="0">
                <a:solidFill>
                  <a:schemeClr val="tx1"/>
                </a:solidFill>
              </a:rPr>
              <a:t>Each rule’s output is multiplied by its strength, and the final score is obtained by averaging these values proportionally.</a:t>
            </a:r>
            <a:br>
              <a:rPr lang="en-US" sz="1200" dirty="0">
                <a:solidFill>
                  <a:schemeClr val="tx1"/>
                </a:solidFill>
              </a:rPr>
            </a:br>
            <a:br>
              <a:rPr lang="en-US" sz="1200" dirty="0">
                <a:solidFill>
                  <a:schemeClr val="tx1"/>
                </a:solidFill>
              </a:rPr>
            </a:br>
            <a:r>
              <a:rPr lang="en-US" sz="1200" dirty="0">
                <a:solidFill>
                  <a:schemeClr val="tx1"/>
                </a:solidFill>
              </a:rPr>
              <a:t>                                     </a:t>
            </a:r>
          </a:p>
          <a:p>
            <a:r>
              <a:rPr lang="en-US" sz="1200" dirty="0">
                <a:solidFill>
                  <a:schemeClr val="tx1"/>
                </a:solidFill>
              </a:rPr>
              <a:t>                                        </a:t>
            </a:r>
          </a:p>
          <a:p>
            <a:r>
              <a:rPr lang="en-US" sz="1200" dirty="0">
                <a:solidFill>
                  <a:schemeClr val="tx1"/>
                </a:solidFill>
              </a:rPr>
              <a:t>                                              </a:t>
            </a:r>
            <a:r>
              <a:rPr lang="en-US" sz="1200" b="1" dirty="0">
                <a:solidFill>
                  <a:schemeClr val="tx1"/>
                </a:solidFill>
              </a:rPr>
              <a:t>Final Score = Σ(output × strength) / Σ(strength)</a:t>
            </a:r>
            <a:br>
              <a:rPr lang="en-US" b="1" dirty="0">
                <a:solidFill>
                  <a:schemeClr val="tx1"/>
                </a:solidFill>
              </a:rPr>
            </a:br>
            <a:endParaRPr lang="en-IN" sz="100" b="1" dirty="0">
              <a:solidFill>
                <a:schemeClr val="tx1"/>
              </a:solidFill>
            </a:endParaRPr>
          </a:p>
        </p:txBody>
      </p:sp>
    </p:spTree>
    <p:extLst>
      <p:ext uri="{BB962C8B-B14F-4D97-AF65-F5344CB8AC3E}">
        <p14:creationId xmlns:p14="http://schemas.microsoft.com/office/powerpoint/2010/main" val="3801999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B25D54FC-621A-BFFE-F430-016B69C9CFFD}"/>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3BFAC30-94E7-4860-8872-9F2727660C02}"/>
              </a:ext>
            </a:extLst>
          </p:cNvPr>
          <p:cNvSpPr/>
          <p:nvPr/>
        </p:nvSpPr>
        <p:spPr>
          <a:xfrm>
            <a:off x="1699260" y="3771900"/>
            <a:ext cx="4579620" cy="4457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2EFBFD58-78A5-7511-2873-2E16D88AD695}"/>
              </a:ext>
            </a:extLst>
          </p:cNvPr>
          <p:cNvSpPr/>
          <p:nvPr/>
        </p:nvSpPr>
        <p:spPr>
          <a:xfrm>
            <a:off x="3200400" y="2125980"/>
            <a:ext cx="1463040" cy="4457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B724EA76-CC25-5A88-2E2D-2860F1EA6F03}"/>
              </a:ext>
            </a:extLst>
          </p:cNvPr>
          <p:cNvSpPr txBox="1"/>
          <p:nvPr/>
        </p:nvSpPr>
        <p:spPr>
          <a:xfrm>
            <a:off x="365760" y="220980"/>
            <a:ext cx="8412480" cy="4724370"/>
          </a:xfrm>
          <a:prstGeom prst="rect">
            <a:avLst/>
          </a:prstGeom>
          <a:noFill/>
        </p:spPr>
        <p:txBody>
          <a:bodyPr wrap="square">
            <a:spAutoFit/>
          </a:bodyPr>
          <a:lstStyle/>
          <a:p>
            <a:r>
              <a:rPr lang="en-IN" sz="3200" b="1" dirty="0">
                <a:solidFill>
                  <a:schemeClr val="accent4"/>
                </a:solidFill>
              </a:rPr>
              <a:t>Output</a:t>
            </a:r>
          </a:p>
          <a:p>
            <a:br>
              <a:rPr lang="en-IN" dirty="0">
                <a:solidFill>
                  <a:schemeClr val="tx1"/>
                </a:solidFill>
              </a:rPr>
            </a:br>
            <a:r>
              <a:rPr lang="en-US" sz="1200" dirty="0">
                <a:solidFill>
                  <a:schemeClr val="tx1"/>
                </a:solidFill>
              </a:rPr>
              <a:t>After applying fuzzy membership functions and evaluating multiple rules, the system combines all partial results using defuzzification to produce a single sustainability score. This score represents the overall suitability of a place by considering multiple factors simultaneously. Although the final output is a crisp value, it is derived from fuzzy reasoning where inputs belong to multiple categories and multiple rules contribute to the decision.</a:t>
            </a:r>
            <a:br>
              <a:rPr lang="en-US" sz="1200" dirty="0">
                <a:solidFill>
                  <a:schemeClr val="tx1"/>
                </a:solidFill>
              </a:rPr>
            </a:br>
            <a:br>
              <a:rPr lang="en-US" sz="1200" dirty="0">
                <a:solidFill>
                  <a:schemeClr val="tx1"/>
                </a:solidFill>
              </a:rPr>
            </a:br>
            <a:r>
              <a:rPr lang="en-US" sz="1200" b="1" dirty="0">
                <a:solidFill>
                  <a:srgbClr val="FDE68A"/>
                </a:solidFill>
              </a:rPr>
              <a:t>Numerical Score(Sustainability Score)</a:t>
            </a:r>
            <a:br>
              <a:rPr lang="en-US" sz="1200" dirty="0">
                <a:solidFill>
                  <a:schemeClr val="tx1"/>
                </a:solidFill>
              </a:rPr>
            </a:br>
            <a:br>
              <a:rPr lang="en-US" sz="1200" dirty="0">
                <a:solidFill>
                  <a:schemeClr val="tx1"/>
                </a:solidFill>
              </a:rPr>
            </a:br>
            <a:r>
              <a:rPr lang="en-US" sz="1200" dirty="0">
                <a:solidFill>
                  <a:schemeClr val="tx1"/>
                </a:solidFill>
              </a:rPr>
              <a:t>                                                                     Range: 0 – 100</a:t>
            </a:r>
          </a:p>
          <a:p>
            <a:br>
              <a:rPr lang="en-US" sz="1200" dirty="0">
                <a:solidFill>
                  <a:schemeClr val="tx1"/>
                </a:solidFill>
              </a:rPr>
            </a:br>
            <a:br>
              <a:rPr lang="en-US" sz="1200" dirty="0">
                <a:solidFill>
                  <a:schemeClr val="tx1"/>
                </a:solidFill>
              </a:rPr>
            </a:br>
            <a:r>
              <a:rPr lang="en-US" sz="1200" dirty="0">
                <a:solidFill>
                  <a:schemeClr val="tx1"/>
                </a:solidFill>
              </a:rPr>
              <a:t>Represents Overall evaluation of a place based on multiple factors such as distance, cost, quality, taste, ambience, etc., computed using fuzzy logic.</a:t>
            </a:r>
            <a:br>
              <a:rPr lang="en-US" sz="1200" dirty="0">
                <a:solidFill>
                  <a:schemeClr val="tx1"/>
                </a:solidFill>
              </a:rPr>
            </a:br>
            <a:br>
              <a:rPr lang="en-US" sz="1200" dirty="0">
                <a:solidFill>
                  <a:schemeClr val="tx1"/>
                </a:solidFill>
              </a:rPr>
            </a:br>
            <a:r>
              <a:rPr lang="en-US" sz="1200" b="1" dirty="0">
                <a:solidFill>
                  <a:srgbClr val="FDE68A"/>
                </a:solidFill>
              </a:rPr>
              <a:t>Linguistic Term(Human-Readable Output)</a:t>
            </a:r>
          </a:p>
          <a:p>
            <a:br>
              <a:rPr lang="en-US" sz="1200" dirty="0">
                <a:solidFill>
                  <a:schemeClr val="tx1"/>
                </a:solidFill>
              </a:rPr>
            </a:br>
            <a:br>
              <a:rPr lang="en-US" sz="1200" dirty="0">
                <a:solidFill>
                  <a:schemeClr val="tx1"/>
                </a:solidFill>
              </a:rPr>
            </a:br>
            <a:r>
              <a:rPr lang="en-US" sz="1200" dirty="0">
                <a:solidFill>
                  <a:schemeClr val="tx1"/>
                </a:solidFill>
              </a:rPr>
              <a:t>                                  Result: Very Bad, Bad, Average, Good, Very Good, Excellent</a:t>
            </a:r>
          </a:p>
          <a:p>
            <a:br>
              <a:rPr lang="en-US" sz="1200" dirty="0">
                <a:solidFill>
                  <a:schemeClr val="tx1"/>
                </a:solidFill>
              </a:rPr>
            </a:br>
            <a:br>
              <a:rPr lang="en-US" sz="1200" dirty="0">
                <a:solidFill>
                  <a:schemeClr val="tx1"/>
                </a:solidFill>
              </a:rPr>
            </a:br>
            <a:r>
              <a:rPr lang="en-US" sz="1200" dirty="0">
                <a:solidFill>
                  <a:schemeClr val="tx1"/>
                </a:solidFill>
              </a:rPr>
              <a:t>Represents A simplified, human-friendly interpretation of the numerical score, helping users easily understand the quality of a place without needing technical details</a:t>
            </a:r>
            <a:r>
              <a:rPr lang="en-US" dirty="0">
                <a:solidFill>
                  <a:schemeClr val="tx1"/>
                </a:solidFill>
              </a:rPr>
              <a:t>.</a:t>
            </a:r>
            <a:br>
              <a:rPr lang="en-US" dirty="0">
                <a:solidFill>
                  <a:schemeClr val="tx1"/>
                </a:solidFill>
              </a:rPr>
            </a:br>
            <a:endParaRPr lang="en-IN" sz="100" dirty="0">
              <a:solidFill>
                <a:schemeClr val="tx1"/>
              </a:solidFill>
            </a:endParaRPr>
          </a:p>
        </p:txBody>
      </p:sp>
    </p:spTree>
    <p:extLst>
      <p:ext uri="{BB962C8B-B14F-4D97-AF65-F5344CB8AC3E}">
        <p14:creationId xmlns:p14="http://schemas.microsoft.com/office/powerpoint/2010/main" val="364150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1AF1745B-6A64-3942-16EB-09F32DF2B8A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4984A10-59FE-7B8C-E519-8F75D01844C2}"/>
              </a:ext>
            </a:extLst>
          </p:cNvPr>
          <p:cNvSpPr txBox="1"/>
          <p:nvPr/>
        </p:nvSpPr>
        <p:spPr>
          <a:xfrm>
            <a:off x="160020" y="0"/>
            <a:ext cx="8618220" cy="4237057"/>
          </a:xfrm>
          <a:prstGeom prst="rect">
            <a:avLst/>
          </a:prstGeom>
          <a:noFill/>
        </p:spPr>
        <p:txBody>
          <a:bodyPr wrap="square">
            <a:spAutoFit/>
          </a:bodyPr>
          <a:lstStyle/>
          <a:p>
            <a:pPr marL="0" lvl="0" indent="0">
              <a:lnSpc>
                <a:spcPct val="150000"/>
              </a:lnSpc>
              <a:buNone/>
            </a:pPr>
            <a:r>
              <a:rPr lang="en-US" sz="3200" b="1" dirty="0">
                <a:solidFill>
                  <a:schemeClr val="accent4"/>
                </a:solidFill>
              </a:rPr>
              <a:t>System</a:t>
            </a:r>
            <a:r>
              <a:rPr lang="en-US" sz="3200" b="1" dirty="0">
                <a:solidFill>
                  <a:schemeClr val="tx1"/>
                </a:solidFill>
              </a:rPr>
              <a:t> </a:t>
            </a:r>
            <a:r>
              <a:rPr lang="en-US" sz="3200" b="1" dirty="0">
                <a:solidFill>
                  <a:schemeClr val="accent4"/>
                </a:solidFill>
              </a:rPr>
              <a:t>Implementation</a:t>
            </a:r>
          </a:p>
          <a:p>
            <a:pPr marL="0" lvl="0" indent="0">
              <a:lnSpc>
                <a:spcPct val="150000"/>
              </a:lnSpc>
              <a:buNone/>
            </a:pPr>
            <a:r>
              <a:rPr lang="en-US" sz="1200" dirty="0">
                <a:solidFill>
                  <a:schemeClr val="tx1"/>
                </a:solidFill>
              </a:rPr>
              <a:t>The proposed system is implemented as a web-based application that integrates</a:t>
            </a:r>
          </a:p>
          <a:p>
            <a:pPr marL="0" lvl="0" indent="0">
              <a:lnSpc>
                <a:spcPct val="150000"/>
              </a:lnSpc>
              <a:buNone/>
            </a:pPr>
            <a:r>
              <a:rPr lang="en-US" sz="1200" dirty="0">
                <a:solidFill>
                  <a:schemeClr val="tx1"/>
                </a:solidFill>
              </a:rPr>
              <a:t>data collection, preprocessing, and fuzzy logic evaluation. It processes real-world</a:t>
            </a:r>
          </a:p>
          <a:p>
            <a:pPr marL="0" lvl="0" indent="0">
              <a:lnSpc>
                <a:spcPct val="150000"/>
              </a:lnSpc>
              <a:buNone/>
            </a:pPr>
            <a:r>
              <a:rPr lang="en-US" sz="1200" dirty="0">
                <a:solidFill>
                  <a:schemeClr val="tx1"/>
                </a:solidFill>
              </a:rPr>
              <a:t>data from multiple sources, normalizes it, and applies fuzzy rules to generate a </a:t>
            </a:r>
          </a:p>
          <a:p>
            <a:pPr marL="0" lvl="0" indent="0">
              <a:lnSpc>
                <a:spcPct val="150000"/>
              </a:lnSpc>
              <a:buNone/>
            </a:pPr>
            <a:r>
              <a:rPr lang="en-US" sz="1200" dirty="0">
                <a:solidFill>
                  <a:schemeClr val="tx1"/>
                </a:solidFill>
              </a:rPr>
              <a:t>sustainability score. The results are presented through an interactive user interface</a:t>
            </a:r>
          </a:p>
          <a:p>
            <a:pPr marL="0" lvl="0" indent="0">
              <a:lnSpc>
                <a:spcPct val="150000"/>
              </a:lnSpc>
              <a:buNone/>
            </a:pPr>
            <a:r>
              <a:rPr lang="en-US" sz="1200" dirty="0">
                <a:solidFill>
                  <a:schemeClr val="tx1"/>
                </a:solidFill>
              </a:rPr>
              <a:t>for easy access and decision-making.</a:t>
            </a:r>
          </a:p>
          <a:p>
            <a:pPr marL="0" lvl="0" indent="0">
              <a:lnSpc>
                <a:spcPct val="150000"/>
              </a:lnSpc>
              <a:buNone/>
            </a:pPr>
            <a:endParaRPr lang="en-US" sz="1200" dirty="0">
              <a:solidFill>
                <a:schemeClr val="tx1"/>
              </a:solidFill>
            </a:endParaRPr>
          </a:p>
          <a:p>
            <a:pPr marL="0" lvl="0" indent="0">
              <a:spcAft>
                <a:spcPts val="1000"/>
              </a:spcAft>
              <a:buNone/>
            </a:pPr>
            <a:r>
              <a:rPr lang="en-US" b="1" dirty="0">
                <a:solidFill>
                  <a:srgbClr val="FDE68A"/>
                </a:solidFill>
              </a:rPr>
              <a:t>Technologies Used</a:t>
            </a:r>
          </a:p>
          <a:p>
            <a:pPr marL="0" lvl="0" indent="0">
              <a:lnSpc>
                <a:spcPct val="150000"/>
              </a:lnSpc>
              <a:buNone/>
            </a:pPr>
            <a:r>
              <a:rPr lang="en-US" sz="1200" b="1" dirty="0">
                <a:solidFill>
                  <a:schemeClr val="tx1"/>
                </a:solidFill>
              </a:rPr>
              <a:t>Frontend</a:t>
            </a:r>
            <a:r>
              <a:rPr lang="en-US" sz="1200" dirty="0">
                <a:solidFill>
                  <a:schemeClr val="tx1"/>
                </a:solidFill>
              </a:rPr>
              <a:t>: HTML, CSS, JavaScript</a:t>
            </a:r>
          </a:p>
          <a:p>
            <a:pPr marL="0" lvl="0" indent="0">
              <a:lnSpc>
                <a:spcPct val="150000"/>
              </a:lnSpc>
              <a:buNone/>
            </a:pPr>
            <a:r>
              <a:rPr lang="en-US" sz="1200" b="1" dirty="0">
                <a:solidFill>
                  <a:schemeClr val="tx1"/>
                </a:solidFill>
              </a:rPr>
              <a:t>Backend/Data Processing</a:t>
            </a:r>
            <a:r>
              <a:rPr lang="en-US" sz="1200" dirty="0">
                <a:solidFill>
                  <a:schemeClr val="tx1"/>
                </a:solidFill>
              </a:rPr>
              <a:t>: JavaScript (Fuzzy Logic Engine)</a:t>
            </a:r>
          </a:p>
          <a:p>
            <a:pPr marL="0" lvl="0" indent="0">
              <a:lnSpc>
                <a:spcPct val="150000"/>
              </a:lnSpc>
              <a:buNone/>
            </a:pPr>
            <a:r>
              <a:rPr lang="en-US" sz="1200" b="1" dirty="0">
                <a:solidFill>
                  <a:schemeClr val="tx1"/>
                </a:solidFill>
              </a:rPr>
              <a:t>Data Sources</a:t>
            </a:r>
            <a:r>
              <a:rPr lang="en-US" sz="1200" dirty="0">
                <a:solidFill>
                  <a:schemeClr val="tx1"/>
                </a:solidFill>
              </a:rPr>
              <a:t>: OpenStreetMap (OSM), Google Maps</a:t>
            </a:r>
          </a:p>
          <a:p>
            <a:pPr marL="0" lvl="0" indent="0">
              <a:lnSpc>
                <a:spcPct val="150000"/>
              </a:lnSpc>
              <a:buNone/>
            </a:pPr>
            <a:r>
              <a:rPr lang="en-US" sz="1200" b="1" dirty="0">
                <a:solidFill>
                  <a:schemeClr val="tx1"/>
                </a:solidFill>
              </a:rPr>
              <a:t>Libraries/Tools</a:t>
            </a:r>
            <a:r>
              <a:rPr lang="en-US" sz="1200" dirty="0">
                <a:solidFill>
                  <a:schemeClr val="tx1"/>
                </a:solidFill>
              </a:rPr>
              <a:t>: </a:t>
            </a:r>
            <a:r>
              <a:rPr lang="en-US" sz="1200" dirty="0" err="1">
                <a:solidFill>
                  <a:schemeClr val="tx1"/>
                </a:solidFill>
              </a:rPr>
              <a:t>CSV Custom Parsers</a:t>
            </a:r>
            <a:r>
              <a:rPr lang="en-US" sz="1200" dirty="0">
                <a:solidFill>
                  <a:schemeClr val="tx1"/>
                </a:solidFill>
              </a:rPr>
              <a:t>, Vanilla JS Engine</a:t>
            </a:r>
          </a:p>
          <a:p>
            <a:pPr marL="0" lvl="0" indent="0">
              <a:lnSpc>
                <a:spcPct val="150000"/>
              </a:lnSpc>
              <a:buNone/>
            </a:pPr>
            <a:endParaRPr lang="en-US" sz="1200" dirty="0">
              <a:solidFill>
                <a:schemeClr val="tx1"/>
              </a:solidFill>
            </a:endParaRPr>
          </a:p>
          <a:p>
            <a:endParaRPr lang="en-IN" sz="100" dirty="0">
              <a:solidFill>
                <a:schemeClr val="tx1"/>
              </a:solidFill>
            </a:endParaRPr>
          </a:p>
        </p:txBody>
      </p:sp>
      <p:pic>
        <p:nvPicPr>
          <p:cNvPr id="3" name="Picture 2">
            <a:extLst>
              <a:ext uri="{FF2B5EF4-FFF2-40B4-BE49-F238E27FC236}">
                <a16:creationId xmlns:a16="http://schemas.microsoft.com/office/drawing/2014/main" id="{35FFBAD4-A2E0-61F2-4286-0940CECF5AE8}"/>
              </a:ext>
            </a:extLst>
          </p:cNvPr>
          <p:cNvPicPr>
            <a:picLocks noChangeAspect="1"/>
          </p:cNvPicPr>
          <p:nvPr/>
        </p:nvPicPr>
        <p:blipFill>
          <a:blip r:embed="rId3"/>
          <a:stretch>
            <a:fillRect/>
          </a:stretch>
        </p:blipFill>
        <p:spPr>
          <a:xfrm>
            <a:off x="6156392" y="515050"/>
            <a:ext cx="2621848" cy="4282014"/>
          </a:xfrm>
          <a:prstGeom prst="rect">
            <a:avLst/>
          </a:prstGeom>
        </p:spPr>
      </p:pic>
    </p:spTree>
    <p:extLst>
      <p:ext uri="{BB962C8B-B14F-4D97-AF65-F5344CB8AC3E}">
        <p14:creationId xmlns:p14="http://schemas.microsoft.com/office/powerpoint/2010/main" val="2381567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FE89D1CD-C435-F933-A187-0724E1CA4B8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F91D860-7F05-A2A3-603F-5825B28CA7C3}"/>
              </a:ext>
            </a:extLst>
          </p:cNvPr>
          <p:cNvSpPr txBox="1"/>
          <p:nvPr/>
        </p:nvSpPr>
        <p:spPr>
          <a:xfrm>
            <a:off x="2278380" y="1615440"/>
            <a:ext cx="10111740" cy="1306255"/>
          </a:xfrm>
          <a:prstGeom prst="rect">
            <a:avLst/>
          </a:prstGeom>
          <a:noFill/>
        </p:spPr>
        <p:txBody>
          <a:bodyPr wrap="square">
            <a:spAutoFit/>
          </a:bodyPr>
          <a:lstStyle/>
          <a:p>
            <a:pPr marL="0" lvl="0" indent="0">
              <a:lnSpc>
                <a:spcPct val="150000"/>
              </a:lnSpc>
              <a:buNone/>
            </a:pPr>
            <a:r>
              <a:rPr lang="en-US" sz="6000" b="1" dirty="0">
                <a:solidFill>
                  <a:schemeClr val="tx1"/>
                </a:solidFill>
              </a:rPr>
              <a:t>THANK YOU</a:t>
            </a:r>
            <a:endParaRPr lang="en-IN" sz="700" dirty="0">
              <a:solidFill>
                <a:schemeClr val="tx1"/>
              </a:solidFill>
            </a:endParaRPr>
          </a:p>
        </p:txBody>
      </p:sp>
    </p:spTree>
    <p:extLst>
      <p:ext uri="{BB962C8B-B14F-4D97-AF65-F5344CB8AC3E}">
        <p14:creationId xmlns:p14="http://schemas.microsoft.com/office/powerpoint/2010/main" val="620591604"/>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Dynamic Context Priority Engine</a:t>
            </a:r>
          </a:p>
        </p:txBody>
      </p:sp>
      <p:sp>
        <p:nvSpPr>
          <p:cNvPr id="3" name="TextBox 2"/>
          <p:cNvSpPr txBox="1"/>
          <p:nvPr/>
        </p:nvSpPr>
        <p:spPr>
          <a:xfrm>
            <a:off x="914400" y="1828800"/>
            <a:ext cx="7315200" cy="3657600"/>
          </a:xfrm>
          <a:prstGeom prst="rect">
            <a:avLst/>
          </a:prstGeom>
          <a:noFill/>
        </p:spPr>
        <p:txBody>
          <a:bodyPr wrap="none">
            <a:spAutoFit/>
          </a:bodyPr>
          <a:lstStyle/>
          <a:p>
            <a:r>
              <a:t>Traditional recommendation systems are rigid. To combat this, we built a physical context heuristic interceptor.</a:t>
            </a:r>
          </a:p>
          <a:p>
            <a:r>
              <a:t>The UI captures 5 real-time states (Hunger, Fatigue, Restroom Urgency, Hygiene, and Budget).</a:t>
            </a:r>
          </a:p>
          <a:p>
            <a:r>
              <a:t>The Engine mathematically intercepts these states. For example, if a user flags 'Fatigue', the engine calculates an artificial boost multiplier and heavily increases the importance of the 'Distance' parameter.</a:t>
            </a:r>
          </a:p>
          <a:p>
            <a:r>
              <a:t>This allows the fuzzy logic to behave dynamically, solving problems intuitively based on the traveler's exact state of exhaustion.</a:t>
            </a: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1344</Words>
  <Application>Microsoft Macintosh PowerPoint</Application>
  <PresentationFormat>On-screen Show (16:9)</PresentationFormat>
  <Paragraphs>57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Roboto</vt:lpstr>
      <vt:lpstr>Roboto Slab</vt:lpstr>
      <vt:lpstr>Marina</vt:lpstr>
      <vt:lpstr>Fuzzy Logic Based Travel Recommendation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 Sharan Karanam</cp:lastModifiedBy>
  <cp:revision>2</cp:revision>
  <dcterms:modified xsi:type="dcterms:W3CDTF">2026-04-16T19:47:44Z</dcterms:modified>
</cp:coreProperties>
</file>